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70" r:id="rId3"/>
    <p:sldId id="256" r:id="rId4"/>
    <p:sldId id="258"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196" autoAdjust="0"/>
  </p:normalViewPr>
  <p:slideViewPr>
    <p:cSldViewPr snapToGrid="0">
      <p:cViewPr>
        <p:scale>
          <a:sx n="75" d="100"/>
          <a:sy n="75" d="100"/>
        </p:scale>
        <p:origin x="946" y="1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A3E11C-C1A5-47C2-9267-FDAFF29DF9A9}" type="datetimeFigureOut">
              <a:rPr lang="fr-FR" smtClean="0"/>
              <a:t>24/02/2025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16884-DA21-4B7A-9AEE-B0E5DBF95E2C}" type="slidenum">
              <a:rPr lang="fr-FR" smtClean="0"/>
              <a:t>‹N°›</a:t>
            </a:fld>
            <a:endParaRPr lang="fr-FR"/>
          </a:p>
        </p:txBody>
      </p:sp>
    </p:spTree>
    <p:extLst>
      <p:ext uri="{BB962C8B-B14F-4D97-AF65-F5344CB8AC3E}">
        <p14:creationId xmlns:p14="http://schemas.microsoft.com/office/powerpoint/2010/main" val="3165955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FD16884-DA21-4B7A-9AEE-B0E5DBF95E2C}" type="slidenum">
              <a:rPr lang="fr-FR" smtClean="0"/>
              <a:t>7</a:t>
            </a:fld>
            <a:endParaRPr lang="fr-FR"/>
          </a:p>
        </p:txBody>
      </p:sp>
    </p:spTree>
    <p:extLst>
      <p:ext uri="{BB962C8B-B14F-4D97-AF65-F5344CB8AC3E}">
        <p14:creationId xmlns:p14="http://schemas.microsoft.com/office/powerpoint/2010/main" val="1555037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897B21-1D22-3801-9404-A2C7289B0CE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F517B0C7-452E-5BF2-1352-AE6D41C724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9840A027-6214-EDF5-34FA-9EBCA2DC4D37}"/>
              </a:ext>
            </a:extLst>
          </p:cNvPr>
          <p:cNvSpPr>
            <a:spLocks noGrp="1"/>
          </p:cNvSpPr>
          <p:nvPr>
            <p:ph type="dt" sz="half" idx="10"/>
          </p:nvPr>
        </p:nvSpPr>
        <p:spPr/>
        <p:txBody>
          <a:bodyPr/>
          <a:lstStyle/>
          <a:p>
            <a:fld id="{F5BB1D8A-2958-4C2D-A84D-96368D91EB91}" type="datetimeFigureOut">
              <a:rPr lang="fr-FR" smtClean="0"/>
              <a:t>23/02/2025</a:t>
            </a:fld>
            <a:endParaRPr lang="fr-FR"/>
          </a:p>
        </p:txBody>
      </p:sp>
      <p:sp>
        <p:nvSpPr>
          <p:cNvPr id="5" name="Espace réservé du pied de page 4">
            <a:extLst>
              <a:ext uri="{FF2B5EF4-FFF2-40B4-BE49-F238E27FC236}">
                <a16:creationId xmlns:a16="http://schemas.microsoft.com/office/drawing/2014/main" id="{9EAAAEA9-377F-64C0-E8F7-1F6008D262D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718B8DE-E462-C927-B9AC-C6EAF85F902B}"/>
              </a:ext>
            </a:extLst>
          </p:cNvPr>
          <p:cNvSpPr>
            <a:spLocks noGrp="1"/>
          </p:cNvSpPr>
          <p:nvPr>
            <p:ph type="sldNum" sz="quarter" idx="12"/>
          </p:nvPr>
        </p:nvSpPr>
        <p:spPr/>
        <p:txBody>
          <a:bodyPr/>
          <a:lstStyle/>
          <a:p>
            <a:fld id="{821AE4EB-00CD-4812-A300-1DE30A8BE6AB}" type="slidenum">
              <a:rPr lang="fr-FR" smtClean="0"/>
              <a:t>‹N°›</a:t>
            </a:fld>
            <a:endParaRPr lang="fr-FR"/>
          </a:p>
        </p:txBody>
      </p:sp>
    </p:spTree>
    <p:extLst>
      <p:ext uri="{BB962C8B-B14F-4D97-AF65-F5344CB8AC3E}">
        <p14:creationId xmlns:p14="http://schemas.microsoft.com/office/powerpoint/2010/main" val="1431866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4802C3-2EE5-46CA-DC8D-F77666B7DCE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3C8ABCE-3B11-6A54-37D8-2FEBDC7A66F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7BFA9F9-8A2B-406E-FF27-CD40B2653DEF}"/>
              </a:ext>
            </a:extLst>
          </p:cNvPr>
          <p:cNvSpPr>
            <a:spLocks noGrp="1"/>
          </p:cNvSpPr>
          <p:nvPr>
            <p:ph type="dt" sz="half" idx="10"/>
          </p:nvPr>
        </p:nvSpPr>
        <p:spPr/>
        <p:txBody>
          <a:bodyPr/>
          <a:lstStyle/>
          <a:p>
            <a:fld id="{F5BB1D8A-2958-4C2D-A84D-96368D91EB91}" type="datetimeFigureOut">
              <a:rPr lang="fr-FR" smtClean="0"/>
              <a:t>23/02/2025</a:t>
            </a:fld>
            <a:endParaRPr lang="fr-FR"/>
          </a:p>
        </p:txBody>
      </p:sp>
      <p:sp>
        <p:nvSpPr>
          <p:cNvPr id="5" name="Espace réservé du pied de page 4">
            <a:extLst>
              <a:ext uri="{FF2B5EF4-FFF2-40B4-BE49-F238E27FC236}">
                <a16:creationId xmlns:a16="http://schemas.microsoft.com/office/drawing/2014/main" id="{FB945C5C-5F03-8E46-BB91-C5E89781291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1AF9827-FCAF-1774-E3B2-58C7087187DC}"/>
              </a:ext>
            </a:extLst>
          </p:cNvPr>
          <p:cNvSpPr>
            <a:spLocks noGrp="1"/>
          </p:cNvSpPr>
          <p:nvPr>
            <p:ph type="sldNum" sz="quarter" idx="12"/>
          </p:nvPr>
        </p:nvSpPr>
        <p:spPr/>
        <p:txBody>
          <a:bodyPr/>
          <a:lstStyle/>
          <a:p>
            <a:fld id="{821AE4EB-00CD-4812-A300-1DE30A8BE6AB}" type="slidenum">
              <a:rPr lang="fr-FR" smtClean="0"/>
              <a:t>‹N°›</a:t>
            </a:fld>
            <a:endParaRPr lang="fr-FR"/>
          </a:p>
        </p:txBody>
      </p:sp>
    </p:spTree>
    <p:extLst>
      <p:ext uri="{BB962C8B-B14F-4D97-AF65-F5344CB8AC3E}">
        <p14:creationId xmlns:p14="http://schemas.microsoft.com/office/powerpoint/2010/main" val="3363932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529485-2532-5169-503E-3F90ECA9740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72C5127F-4BA3-03BC-CD72-CFDC0758A0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219DA55-BC74-8AFB-1993-7CED0594B6AD}"/>
              </a:ext>
            </a:extLst>
          </p:cNvPr>
          <p:cNvSpPr>
            <a:spLocks noGrp="1"/>
          </p:cNvSpPr>
          <p:nvPr>
            <p:ph type="dt" sz="half" idx="10"/>
          </p:nvPr>
        </p:nvSpPr>
        <p:spPr/>
        <p:txBody>
          <a:bodyPr/>
          <a:lstStyle/>
          <a:p>
            <a:fld id="{F5BB1D8A-2958-4C2D-A84D-96368D91EB91}" type="datetimeFigureOut">
              <a:rPr lang="fr-FR" smtClean="0"/>
              <a:t>23/02/2025</a:t>
            </a:fld>
            <a:endParaRPr lang="fr-FR"/>
          </a:p>
        </p:txBody>
      </p:sp>
      <p:sp>
        <p:nvSpPr>
          <p:cNvPr id="5" name="Espace réservé du pied de page 4">
            <a:extLst>
              <a:ext uri="{FF2B5EF4-FFF2-40B4-BE49-F238E27FC236}">
                <a16:creationId xmlns:a16="http://schemas.microsoft.com/office/drawing/2014/main" id="{C775D591-9451-923C-5D9A-658DE2A60A5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FBD2253-B912-36A4-934D-D3C72B6D9493}"/>
              </a:ext>
            </a:extLst>
          </p:cNvPr>
          <p:cNvSpPr>
            <a:spLocks noGrp="1"/>
          </p:cNvSpPr>
          <p:nvPr>
            <p:ph type="sldNum" sz="quarter" idx="12"/>
          </p:nvPr>
        </p:nvSpPr>
        <p:spPr/>
        <p:txBody>
          <a:bodyPr/>
          <a:lstStyle/>
          <a:p>
            <a:fld id="{821AE4EB-00CD-4812-A300-1DE30A8BE6AB}" type="slidenum">
              <a:rPr lang="fr-FR" smtClean="0"/>
              <a:t>‹N°›</a:t>
            </a:fld>
            <a:endParaRPr lang="fr-FR"/>
          </a:p>
        </p:txBody>
      </p:sp>
    </p:spTree>
    <p:extLst>
      <p:ext uri="{BB962C8B-B14F-4D97-AF65-F5344CB8AC3E}">
        <p14:creationId xmlns:p14="http://schemas.microsoft.com/office/powerpoint/2010/main" val="2207620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01EC00-DE1A-257C-CA49-358FD47CB5D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A99CE1D-C5B6-6A7C-8FB4-515AB3ACA38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D2CAD83-0776-25E0-DBA6-C0C8A1DA3F9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6C2E8FC8-CD53-F250-ACDE-4AB57C0CEB3D}"/>
              </a:ext>
            </a:extLst>
          </p:cNvPr>
          <p:cNvSpPr>
            <a:spLocks noGrp="1"/>
          </p:cNvSpPr>
          <p:nvPr>
            <p:ph type="dt" sz="half" idx="10"/>
          </p:nvPr>
        </p:nvSpPr>
        <p:spPr/>
        <p:txBody>
          <a:bodyPr/>
          <a:lstStyle/>
          <a:p>
            <a:fld id="{F5BB1D8A-2958-4C2D-A84D-96368D91EB91}" type="datetimeFigureOut">
              <a:rPr lang="fr-FR" smtClean="0"/>
              <a:t>23/02/2025</a:t>
            </a:fld>
            <a:endParaRPr lang="fr-FR"/>
          </a:p>
        </p:txBody>
      </p:sp>
      <p:sp>
        <p:nvSpPr>
          <p:cNvPr id="6" name="Espace réservé du pied de page 5">
            <a:extLst>
              <a:ext uri="{FF2B5EF4-FFF2-40B4-BE49-F238E27FC236}">
                <a16:creationId xmlns:a16="http://schemas.microsoft.com/office/drawing/2014/main" id="{50B05BF0-E77E-A301-467B-E933026FFD7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3BA1FA4-B9B3-1ADE-8129-84DD91CA6E1B}"/>
              </a:ext>
            </a:extLst>
          </p:cNvPr>
          <p:cNvSpPr>
            <a:spLocks noGrp="1"/>
          </p:cNvSpPr>
          <p:nvPr>
            <p:ph type="sldNum" sz="quarter" idx="12"/>
          </p:nvPr>
        </p:nvSpPr>
        <p:spPr/>
        <p:txBody>
          <a:bodyPr/>
          <a:lstStyle/>
          <a:p>
            <a:fld id="{821AE4EB-00CD-4812-A300-1DE30A8BE6AB}" type="slidenum">
              <a:rPr lang="fr-FR" smtClean="0"/>
              <a:t>‹N°›</a:t>
            </a:fld>
            <a:endParaRPr lang="fr-FR"/>
          </a:p>
        </p:txBody>
      </p:sp>
    </p:spTree>
    <p:extLst>
      <p:ext uri="{BB962C8B-B14F-4D97-AF65-F5344CB8AC3E}">
        <p14:creationId xmlns:p14="http://schemas.microsoft.com/office/powerpoint/2010/main" val="581141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70672E-D0FD-975D-341F-171B18787C6A}"/>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A4B9302-469A-62FF-4965-2931D6CDFF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09726E7-0901-83CB-2245-9DE38AF7D2AE}"/>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5DBA3D9-150F-7C6D-9214-222FAAFD43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C2F0130-2270-A190-A950-E2C1564A87E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5BFF9743-C667-5557-D3DB-104F50FC7B26}"/>
              </a:ext>
            </a:extLst>
          </p:cNvPr>
          <p:cNvSpPr>
            <a:spLocks noGrp="1"/>
          </p:cNvSpPr>
          <p:nvPr>
            <p:ph type="dt" sz="half" idx="10"/>
          </p:nvPr>
        </p:nvSpPr>
        <p:spPr/>
        <p:txBody>
          <a:bodyPr/>
          <a:lstStyle/>
          <a:p>
            <a:fld id="{F5BB1D8A-2958-4C2D-A84D-96368D91EB91}" type="datetimeFigureOut">
              <a:rPr lang="fr-FR" smtClean="0"/>
              <a:t>23/02/2025</a:t>
            </a:fld>
            <a:endParaRPr lang="fr-FR"/>
          </a:p>
        </p:txBody>
      </p:sp>
      <p:sp>
        <p:nvSpPr>
          <p:cNvPr id="8" name="Espace réservé du pied de page 7">
            <a:extLst>
              <a:ext uri="{FF2B5EF4-FFF2-40B4-BE49-F238E27FC236}">
                <a16:creationId xmlns:a16="http://schemas.microsoft.com/office/drawing/2014/main" id="{FC25BD04-A848-7A5A-3F78-3798A6429DA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5583700-3EFE-28B2-DAE8-0785D32E0979}"/>
              </a:ext>
            </a:extLst>
          </p:cNvPr>
          <p:cNvSpPr>
            <a:spLocks noGrp="1"/>
          </p:cNvSpPr>
          <p:nvPr>
            <p:ph type="sldNum" sz="quarter" idx="12"/>
          </p:nvPr>
        </p:nvSpPr>
        <p:spPr/>
        <p:txBody>
          <a:bodyPr/>
          <a:lstStyle/>
          <a:p>
            <a:fld id="{821AE4EB-00CD-4812-A300-1DE30A8BE6AB}" type="slidenum">
              <a:rPr lang="fr-FR" smtClean="0"/>
              <a:t>‹N°›</a:t>
            </a:fld>
            <a:endParaRPr lang="fr-FR"/>
          </a:p>
        </p:txBody>
      </p:sp>
    </p:spTree>
    <p:extLst>
      <p:ext uri="{BB962C8B-B14F-4D97-AF65-F5344CB8AC3E}">
        <p14:creationId xmlns:p14="http://schemas.microsoft.com/office/powerpoint/2010/main" val="771255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347670-801D-0AF1-9F52-FBE06494889C}"/>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72DA3C7-75BE-3B3C-80F6-EFCB8B8E9E46}"/>
              </a:ext>
            </a:extLst>
          </p:cNvPr>
          <p:cNvSpPr>
            <a:spLocks noGrp="1"/>
          </p:cNvSpPr>
          <p:nvPr>
            <p:ph type="dt" sz="half" idx="10"/>
          </p:nvPr>
        </p:nvSpPr>
        <p:spPr/>
        <p:txBody>
          <a:bodyPr/>
          <a:lstStyle/>
          <a:p>
            <a:fld id="{F5BB1D8A-2958-4C2D-A84D-96368D91EB91}" type="datetimeFigureOut">
              <a:rPr lang="fr-FR" smtClean="0"/>
              <a:t>23/02/2025</a:t>
            </a:fld>
            <a:endParaRPr lang="fr-FR"/>
          </a:p>
        </p:txBody>
      </p:sp>
      <p:sp>
        <p:nvSpPr>
          <p:cNvPr id="4" name="Espace réservé du pied de page 3">
            <a:extLst>
              <a:ext uri="{FF2B5EF4-FFF2-40B4-BE49-F238E27FC236}">
                <a16:creationId xmlns:a16="http://schemas.microsoft.com/office/drawing/2014/main" id="{76CC63CF-D5D2-9CF7-C885-4CA3232A3EFE}"/>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75C09EE2-4B55-79FD-CD06-25C1A05435FB}"/>
              </a:ext>
            </a:extLst>
          </p:cNvPr>
          <p:cNvSpPr>
            <a:spLocks noGrp="1"/>
          </p:cNvSpPr>
          <p:nvPr>
            <p:ph type="sldNum" sz="quarter" idx="12"/>
          </p:nvPr>
        </p:nvSpPr>
        <p:spPr/>
        <p:txBody>
          <a:bodyPr/>
          <a:lstStyle/>
          <a:p>
            <a:fld id="{821AE4EB-00CD-4812-A300-1DE30A8BE6AB}" type="slidenum">
              <a:rPr lang="fr-FR" smtClean="0"/>
              <a:t>‹N°›</a:t>
            </a:fld>
            <a:endParaRPr lang="fr-FR"/>
          </a:p>
        </p:txBody>
      </p:sp>
    </p:spTree>
    <p:extLst>
      <p:ext uri="{BB962C8B-B14F-4D97-AF65-F5344CB8AC3E}">
        <p14:creationId xmlns:p14="http://schemas.microsoft.com/office/powerpoint/2010/main" val="1156542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917C60C-D8C7-1646-9BBC-F448A62E4ABC}"/>
              </a:ext>
            </a:extLst>
          </p:cNvPr>
          <p:cNvSpPr>
            <a:spLocks noGrp="1"/>
          </p:cNvSpPr>
          <p:nvPr>
            <p:ph type="dt" sz="half" idx="10"/>
          </p:nvPr>
        </p:nvSpPr>
        <p:spPr/>
        <p:txBody>
          <a:bodyPr/>
          <a:lstStyle/>
          <a:p>
            <a:fld id="{F5BB1D8A-2958-4C2D-A84D-96368D91EB91}" type="datetimeFigureOut">
              <a:rPr lang="fr-FR" smtClean="0"/>
              <a:t>23/02/2025</a:t>
            </a:fld>
            <a:endParaRPr lang="fr-FR"/>
          </a:p>
        </p:txBody>
      </p:sp>
      <p:sp>
        <p:nvSpPr>
          <p:cNvPr id="3" name="Espace réservé du pied de page 2">
            <a:extLst>
              <a:ext uri="{FF2B5EF4-FFF2-40B4-BE49-F238E27FC236}">
                <a16:creationId xmlns:a16="http://schemas.microsoft.com/office/drawing/2014/main" id="{596B7242-A976-C26C-7918-28985B6B6CE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0A8EFF9-A0DB-E84B-46F3-DD2AC51B8FB8}"/>
              </a:ext>
            </a:extLst>
          </p:cNvPr>
          <p:cNvSpPr>
            <a:spLocks noGrp="1"/>
          </p:cNvSpPr>
          <p:nvPr>
            <p:ph type="sldNum" sz="quarter" idx="12"/>
          </p:nvPr>
        </p:nvSpPr>
        <p:spPr/>
        <p:txBody>
          <a:bodyPr/>
          <a:lstStyle/>
          <a:p>
            <a:fld id="{821AE4EB-00CD-4812-A300-1DE30A8BE6AB}" type="slidenum">
              <a:rPr lang="fr-FR" smtClean="0"/>
              <a:t>‹N°›</a:t>
            </a:fld>
            <a:endParaRPr lang="fr-FR"/>
          </a:p>
        </p:txBody>
      </p:sp>
    </p:spTree>
    <p:extLst>
      <p:ext uri="{BB962C8B-B14F-4D97-AF65-F5344CB8AC3E}">
        <p14:creationId xmlns:p14="http://schemas.microsoft.com/office/powerpoint/2010/main" val="3279536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3AE991-DCAA-0149-80DF-15D5E289E2E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3723CBE-0823-50A3-C465-CD515379A9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57E6BAB3-C7E5-CF94-394A-0C33696716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79EC1CE-B387-2645-46C9-B6574D1E6190}"/>
              </a:ext>
            </a:extLst>
          </p:cNvPr>
          <p:cNvSpPr>
            <a:spLocks noGrp="1"/>
          </p:cNvSpPr>
          <p:nvPr>
            <p:ph type="dt" sz="half" idx="10"/>
          </p:nvPr>
        </p:nvSpPr>
        <p:spPr/>
        <p:txBody>
          <a:bodyPr/>
          <a:lstStyle/>
          <a:p>
            <a:fld id="{F5BB1D8A-2958-4C2D-A84D-96368D91EB91}" type="datetimeFigureOut">
              <a:rPr lang="fr-FR" smtClean="0"/>
              <a:t>23/02/2025</a:t>
            </a:fld>
            <a:endParaRPr lang="fr-FR"/>
          </a:p>
        </p:txBody>
      </p:sp>
      <p:sp>
        <p:nvSpPr>
          <p:cNvPr id="6" name="Espace réservé du pied de page 5">
            <a:extLst>
              <a:ext uri="{FF2B5EF4-FFF2-40B4-BE49-F238E27FC236}">
                <a16:creationId xmlns:a16="http://schemas.microsoft.com/office/drawing/2014/main" id="{2E91DDF5-B465-AED2-6905-9DAF2E072A4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42DA25B-1768-A266-56F3-616EE8F9D10F}"/>
              </a:ext>
            </a:extLst>
          </p:cNvPr>
          <p:cNvSpPr>
            <a:spLocks noGrp="1"/>
          </p:cNvSpPr>
          <p:nvPr>
            <p:ph type="sldNum" sz="quarter" idx="12"/>
          </p:nvPr>
        </p:nvSpPr>
        <p:spPr/>
        <p:txBody>
          <a:bodyPr/>
          <a:lstStyle/>
          <a:p>
            <a:fld id="{821AE4EB-00CD-4812-A300-1DE30A8BE6AB}" type="slidenum">
              <a:rPr lang="fr-FR" smtClean="0"/>
              <a:t>‹N°›</a:t>
            </a:fld>
            <a:endParaRPr lang="fr-FR"/>
          </a:p>
        </p:txBody>
      </p:sp>
    </p:spTree>
    <p:extLst>
      <p:ext uri="{BB962C8B-B14F-4D97-AF65-F5344CB8AC3E}">
        <p14:creationId xmlns:p14="http://schemas.microsoft.com/office/powerpoint/2010/main" val="3988403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172531-ECA1-F0B4-C199-5A9932B2BD9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5570C2E0-7593-FF85-04B1-CA617A3423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D61A23DE-F41D-D301-BC9E-924CBA54D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B11AAA9-C2D2-CE51-3388-97BE0AA0814A}"/>
              </a:ext>
            </a:extLst>
          </p:cNvPr>
          <p:cNvSpPr>
            <a:spLocks noGrp="1"/>
          </p:cNvSpPr>
          <p:nvPr>
            <p:ph type="dt" sz="half" idx="10"/>
          </p:nvPr>
        </p:nvSpPr>
        <p:spPr/>
        <p:txBody>
          <a:bodyPr/>
          <a:lstStyle/>
          <a:p>
            <a:fld id="{F5BB1D8A-2958-4C2D-A84D-96368D91EB91}" type="datetimeFigureOut">
              <a:rPr lang="fr-FR" smtClean="0"/>
              <a:t>23/02/2025</a:t>
            </a:fld>
            <a:endParaRPr lang="fr-FR"/>
          </a:p>
        </p:txBody>
      </p:sp>
      <p:sp>
        <p:nvSpPr>
          <p:cNvPr id="6" name="Espace réservé du pied de page 5">
            <a:extLst>
              <a:ext uri="{FF2B5EF4-FFF2-40B4-BE49-F238E27FC236}">
                <a16:creationId xmlns:a16="http://schemas.microsoft.com/office/drawing/2014/main" id="{57272A55-9DAE-D421-4366-19E7B08282F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80EC7A7-B78C-2B1B-2C96-6BF7FA2B9EDE}"/>
              </a:ext>
            </a:extLst>
          </p:cNvPr>
          <p:cNvSpPr>
            <a:spLocks noGrp="1"/>
          </p:cNvSpPr>
          <p:nvPr>
            <p:ph type="sldNum" sz="quarter" idx="12"/>
          </p:nvPr>
        </p:nvSpPr>
        <p:spPr/>
        <p:txBody>
          <a:bodyPr/>
          <a:lstStyle/>
          <a:p>
            <a:fld id="{821AE4EB-00CD-4812-A300-1DE30A8BE6AB}" type="slidenum">
              <a:rPr lang="fr-FR" smtClean="0"/>
              <a:t>‹N°›</a:t>
            </a:fld>
            <a:endParaRPr lang="fr-FR"/>
          </a:p>
        </p:txBody>
      </p:sp>
    </p:spTree>
    <p:extLst>
      <p:ext uri="{BB962C8B-B14F-4D97-AF65-F5344CB8AC3E}">
        <p14:creationId xmlns:p14="http://schemas.microsoft.com/office/powerpoint/2010/main" val="2728852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C33D91-08AC-859C-5085-4EBF24A41E83}"/>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1CA5E01C-3D15-37C2-CA55-8C701D0B2D2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14495F2-3C48-353E-5E5C-72B452F63174}"/>
              </a:ext>
            </a:extLst>
          </p:cNvPr>
          <p:cNvSpPr>
            <a:spLocks noGrp="1"/>
          </p:cNvSpPr>
          <p:nvPr>
            <p:ph type="dt" sz="half" idx="10"/>
          </p:nvPr>
        </p:nvSpPr>
        <p:spPr/>
        <p:txBody>
          <a:bodyPr/>
          <a:lstStyle/>
          <a:p>
            <a:fld id="{F5BB1D8A-2958-4C2D-A84D-96368D91EB91}" type="datetimeFigureOut">
              <a:rPr lang="fr-FR" smtClean="0"/>
              <a:t>23/02/2025</a:t>
            </a:fld>
            <a:endParaRPr lang="fr-FR"/>
          </a:p>
        </p:txBody>
      </p:sp>
      <p:sp>
        <p:nvSpPr>
          <p:cNvPr id="5" name="Espace réservé du pied de page 4">
            <a:extLst>
              <a:ext uri="{FF2B5EF4-FFF2-40B4-BE49-F238E27FC236}">
                <a16:creationId xmlns:a16="http://schemas.microsoft.com/office/drawing/2014/main" id="{DD0B55FB-EF35-28BA-4BAB-0EA4589076D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ADE4A60-9FA3-D06E-AEDC-941B1667B41E}"/>
              </a:ext>
            </a:extLst>
          </p:cNvPr>
          <p:cNvSpPr>
            <a:spLocks noGrp="1"/>
          </p:cNvSpPr>
          <p:nvPr>
            <p:ph type="sldNum" sz="quarter" idx="12"/>
          </p:nvPr>
        </p:nvSpPr>
        <p:spPr/>
        <p:txBody>
          <a:bodyPr/>
          <a:lstStyle/>
          <a:p>
            <a:fld id="{821AE4EB-00CD-4812-A300-1DE30A8BE6AB}" type="slidenum">
              <a:rPr lang="fr-FR" smtClean="0"/>
              <a:t>‹N°›</a:t>
            </a:fld>
            <a:endParaRPr lang="fr-FR"/>
          </a:p>
        </p:txBody>
      </p:sp>
    </p:spTree>
    <p:extLst>
      <p:ext uri="{BB962C8B-B14F-4D97-AF65-F5344CB8AC3E}">
        <p14:creationId xmlns:p14="http://schemas.microsoft.com/office/powerpoint/2010/main" val="1214891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A056348-FA93-340E-4C77-46E161B40B98}"/>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6D6486D8-DF15-58A4-E32B-DCF569F79AB3}"/>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A5FA634-DA8C-B78F-3225-E21F55CA2844}"/>
              </a:ext>
            </a:extLst>
          </p:cNvPr>
          <p:cNvSpPr>
            <a:spLocks noGrp="1"/>
          </p:cNvSpPr>
          <p:nvPr>
            <p:ph type="dt" sz="half" idx="10"/>
          </p:nvPr>
        </p:nvSpPr>
        <p:spPr/>
        <p:txBody>
          <a:bodyPr/>
          <a:lstStyle/>
          <a:p>
            <a:fld id="{F5BB1D8A-2958-4C2D-A84D-96368D91EB91}" type="datetimeFigureOut">
              <a:rPr lang="fr-FR" smtClean="0"/>
              <a:t>23/02/2025</a:t>
            </a:fld>
            <a:endParaRPr lang="fr-FR"/>
          </a:p>
        </p:txBody>
      </p:sp>
      <p:sp>
        <p:nvSpPr>
          <p:cNvPr id="5" name="Espace réservé du pied de page 4">
            <a:extLst>
              <a:ext uri="{FF2B5EF4-FFF2-40B4-BE49-F238E27FC236}">
                <a16:creationId xmlns:a16="http://schemas.microsoft.com/office/drawing/2014/main" id="{9D878783-2A7D-E240-53DA-7DC672508E7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3F7E0C7-C0A7-A203-368E-23B8E8A79F94}"/>
              </a:ext>
            </a:extLst>
          </p:cNvPr>
          <p:cNvSpPr>
            <a:spLocks noGrp="1"/>
          </p:cNvSpPr>
          <p:nvPr>
            <p:ph type="sldNum" sz="quarter" idx="12"/>
          </p:nvPr>
        </p:nvSpPr>
        <p:spPr/>
        <p:txBody>
          <a:bodyPr/>
          <a:lstStyle/>
          <a:p>
            <a:fld id="{821AE4EB-00CD-4812-A300-1DE30A8BE6AB}" type="slidenum">
              <a:rPr lang="fr-FR" smtClean="0"/>
              <a:t>‹N°›</a:t>
            </a:fld>
            <a:endParaRPr lang="fr-FR"/>
          </a:p>
        </p:txBody>
      </p:sp>
    </p:spTree>
    <p:extLst>
      <p:ext uri="{BB962C8B-B14F-4D97-AF65-F5344CB8AC3E}">
        <p14:creationId xmlns:p14="http://schemas.microsoft.com/office/powerpoint/2010/main" val="3990686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9F91296-2786-CC1F-C4F4-710509E1F9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628F6C0-C55A-A2CA-4FF7-F6DC865813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016AE5E-2C5A-3E00-3B93-C682BBA435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BB1D8A-2958-4C2D-A84D-96368D91EB91}" type="datetimeFigureOut">
              <a:rPr lang="fr-FR" smtClean="0"/>
              <a:t>23/02/2025</a:t>
            </a:fld>
            <a:endParaRPr lang="fr-FR"/>
          </a:p>
        </p:txBody>
      </p:sp>
      <p:sp>
        <p:nvSpPr>
          <p:cNvPr id="5" name="Espace réservé du pied de page 4">
            <a:extLst>
              <a:ext uri="{FF2B5EF4-FFF2-40B4-BE49-F238E27FC236}">
                <a16:creationId xmlns:a16="http://schemas.microsoft.com/office/drawing/2014/main" id="{F98AF5D8-C05E-BE27-12DA-85CED0C5E7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D27459F-FAA5-BFB6-844D-3E4AE928FD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1AE4EB-00CD-4812-A300-1DE30A8BE6AB}" type="slidenum">
              <a:rPr lang="fr-FR" smtClean="0"/>
              <a:t>‹N°›</a:t>
            </a:fld>
            <a:endParaRPr lang="fr-FR"/>
          </a:p>
        </p:txBody>
      </p:sp>
    </p:spTree>
    <p:extLst>
      <p:ext uri="{BB962C8B-B14F-4D97-AF65-F5344CB8AC3E}">
        <p14:creationId xmlns:p14="http://schemas.microsoft.com/office/powerpoint/2010/main" val="23973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4554E339-1CF8-30BC-8F1F-0C494FA68FD4}"/>
              </a:ext>
            </a:extLst>
          </p:cNvPr>
          <p:cNvSpPr txBox="1"/>
          <p:nvPr/>
        </p:nvSpPr>
        <p:spPr>
          <a:xfrm>
            <a:off x="477624" y="6126686"/>
            <a:ext cx="2773680" cy="461665"/>
          </a:xfrm>
          <a:prstGeom prst="rect">
            <a:avLst/>
          </a:prstGeom>
          <a:noFill/>
        </p:spPr>
        <p:txBody>
          <a:bodyPr wrap="square" rtlCol="0">
            <a:spAutoFit/>
          </a:bodyPr>
          <a:lstStyle/>
          <a:p>
            <a:r>
              <a:rPr lang="en-US" sz="2400" b="1" dirty="0">
                <a:latin typeface="Arial" panose="020B0604020202020204" pitchFamily="34" charset="0"/>
              </a:rPr>
              <a:t>B</a:t>
            </a:r>
            <a:r>
              <a:rPr lang="fr-FR" sz="2400" b="1" dirty="0">
                <a:latin typeface="Arial" panose="020B0604020202020204" pitchFamily="34" charset="0"/>
              </a:rPr>
              <a:t>y : </a:t>
            </a:r>
            <a:r>
              <a:rPr lang="fr-FR" sz="2400" b="1" dirty="0" err="1">
                <a:latin typeface="Arial" panose="020B0604020202020204" pitchFamily="34" charset="0"/>
              </a:rPr>
              <a:t>Hatim</a:t>
            </a:r>
            <a:r>
              <a:rPr lang="fr-FR" sz="2400" b="1" dirty="0">
                <a:latin typeface="Arial" panose="020B0604020202020204" pitchFamily="34" charset="0"/>
              </a:rPr>
              <a:t> </a:t>
            </a:r>
            <a:r>
              <a:rPr lang="fr-FR" sz="2400" b="1" dirty="0" err="1">
                <a:latin typeface="Arial" panose="020B0604020202020204" pitchFamily="34" charset="0"/>
              </a:rPr>
              <a:t>Fadoul</a:t>
            </a:r>
            <a:endParaRPr lang="fr-FR" sz="2400" dirty="0"/>
          </a:p>
        </p:txBody>
      </p:sp>
      <p:sp>
        <p:nvSpPr>
          <p:cNvPr id="8" name="ZoneTexte 7">
            <a:extLst>
              <a:ext uri="{FF2B5EF4-FFF2-40B4-BE49-F238E27FC236}">
                <a16:creationId xmlns:a16="http://schemas.microsoft.com/office/drawing/2014/main" id="{0CB44C20-6518-0F73-F7D2-EA0498E52FB5}"/>
              </a:ext>
            </a:extLst>
          </p:cNvPr>
          <p:cNvSpPr txBox="1"/>
          <p:nvPr/>
        </p:nvSpPr>
        <p:spPr>
          <a:xfrm>
            <a:off x="1187777" y="2767280"/>
            <a:ext cx="9816445" cy="1323439"/>
          </a:xfrm>
          <a:prstGeom prst="rect">
            <a:avLst/>
          </a:prstGeom>
          <a:noFill/>
        </p:spPr>
        <p:txBody>
          <a:bodyPr wrap="square" rtlCol="0">
            <a:spAutoFit/>
          </a:bodyPr>
          <a:lstStyle/>
          <a:p>
            <a:pPr algn="ctr"/>
            <a:r>
              <a:rPr lang="fr-FR" sz="4000" b="1" dirty="0"/>
              <a:t>Présentation du projet : </a:t>
            </a:r>
          </a:p>
          <a:p>
            <a:pPr algn="ctr"/>
            <a:r>
              <a:rPr lang="fr-FR" sz="4000" b="1" dirty="0"/>
              <a:t>conception d'un système d'aide à la décision</a:t>
            </a:r>
          </a:p>
        </p:txBody>
      </p:sp>
    </p:spTree>
    <p:extLst>
      <p:ext uri="{BB962C8B-B14F-4D97-AF65-F5344CB8AC3E}">
        <p14:creationId xmlns:p14="http://schemas.microsoft.com/office/powerpoint/2010/main" val="3537346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4554E339-1CF8-30BC-8F1F-0C494FA68FD4}"/>
              </a:ext>
            </a:extLst>
          </p:cNvPr>
          <p:cNvSpPr txBox="1"/>
          <p:nvPr/>
        </p:nvSpPr>
        <p:spPr>
          <a:xfrm>
            <a:off x="477624" y="6126686"/>
            <a:ext cx="2773680" cy="461665"/>
          </a:xfrm>
          <a:prstGeom prst="rect">
            <a:avLst/>
          </a:prstGeom>
          <a:noFill/>
        </p:spPr>
        <p:txBody>
          <a:bodyPr wrap="square" rtlCol="0">
            <a:spAutoFit/>
          </a:bodyPr>
          <a:lstStyle/>
          <a:p>
            <a:r>
              <a:rPr lang="en-US" sz="2400" b="1" dirty="0">
                <a:latin typeface="Arial" panose="020B0604020202020204" pitchFamily="34" charset="0"/>
              </a:rPr>
              <a:t>B</a:t>
            </a:r>
            <a:r>
              <a:rPr lang="fr-FR" sz="2400" b="1" dirty="0">
                <a:latin typeface="Arial" panose="020B0604020202020204" pitchFamily="34" charset="0"/>
              </a:rPr>
              <a:t>y : </a:t>
            </a:r>
            <a:r>
              <a:rPr lang="fr-FR" sz="2400" b="1" dirty="0" err="1">
                <a:latin typeface="Arial" panose="020B0604020202020204" pitchFamily="34" charset="0"/>
              </a:rPr>
              <a:t>Hatim</a:t>
            </a:r>
            <a:r>
              <a:rPr lang="fr-FR" sz="2400" b="1" dirty="0">
                <a:latin typeface="Arial" panose="020B0604020202020204" pitchFamily="34" charset="0"/>
              </a:rPr>
              <a:t> </a:t>
            </a:r>
            <a:r>
              <a:rPr lang="fr-FR" sz="2400" b="1" dirty="0" err="1">
                <a:latin typeface="Arial" panose="020B0604020202020204" pitchFamily="34" charset="0"/>
              </a:rPr>
              <a:t>Fadoul</a:t>
            </a:r>
            <a:endParaRPr lang="fr-FR" sz="2400" dirty="0"/>
          </a:p>
        </p:txBody>
      </p:sp>
      <p:sp>
        <p:nvSpPr>
          <p:cNvPr id="2" name="ZoneTexte 1">
            <a:extLst>
              <a:ext uri="{FF2B5EF4-FFF2-40B4-BE49-F238E27FC236}">
                <a16:creationId xmlns:a16="http://schemas.microsoft.com/office/drawing/2014/main" id="{D48B6424-8A59-E0EA-B9CB-E6E4BFF645C3}"/>
              </a:ext>
            </a:extLst>
          </p:cNvPr>
          <p:cNvSpPr txBox="1"/>
          <p:nvPr/>
        </p:nvSpPr>
        <p:spPr>
          <a:xfrm>
            <a:off x="1110896" y="1283335"/>
            <a:ext cx="4685122" cy="584775"/>
          </a:xfrm>
          <a:prstGeom prst="rect">
            <a:avLst/>
          </a:prstGeom>
          <a:noFill/>
        </p:spPr>
        <p:txBody>
          <a:bodyPr wrap="square" rtlCol="0">
            <a:spAutoFit/>
          </a:bodyPr>
          <a:lstStyle/>
          <a:p>
            <a:r>
              <a:rPr lang="en-US" sz="3200" b="1" dirty="0">
                <a:cs typeface="Calibri"/>
              </a:rPr>
              <a:t>Les axes du presentation :</a:t>
            </a:r>
          </a:p>
        </p:txBody>
      </p:sp>
      <p:sp>
        <p:nvSpPr>
          <p:cNvPr id="3" name="ZoneTexte 2">
            <a:extLst>
              <a:ext uri="{FF2B5EF4-FFF2-40B4-BE49-F238E27FC236}">
                <a16:creationId xmlns:a16="http://schemas.microsoft.com/office/drawing/2014/main" id="{ABE36D20-41C6-DDD0-176C-BDA00D15C994}"/>
              </a:ext>
            </a:extLst>
          </p:cNvPr>
          <p:cNvSpPr txBox="1"/>
          <p:nvPr/>
        </p:nvSpPr>
        <p:spPr>
          <a:xfrm>
            <a:off x="2147269" y="2216725"/>
            <a:ext cx="4685122" cy="400110"/>
          </a:xfrm>
          <a:prstGeom prst="rect">
            <a:avLst/>
          </a:prstGeom>
          <a:noFill/>
        </p:spPr>
        <p:txBody>
          <a:bodyPr wrap="square" rtlCol="0">
            <a:spAutoFit/>
          </a:bodyPr>
          <a:lstStyle/>
          <a:p>
            <a:r>
              <a:rPr lang="fr-FR" sz="2000" b="1" dirty="0"/>
              <a:t>1. Description du Projet</a:t>
            </a:r>
            <a:endParaRPr lang="fr-FR" sz="2000" dirty="0"/>
          </a:p>
        </p:txBody>
      </p:sp>
      <p:sp>
        <p:nvSpPr>
          <p:cNvPr id="4" name="ZoneTexte 3">
            <a:extLst>
              <a:ext uri="{FF2B5EF4-FFF2-40B4-BE49-F238E27FC236}">
                <a16:creationId xmlns:a16="http://schemas.microsoft.com/office/drawing/2014/main" id="{2A5555AE-FE87-A2D1-323D-651A0D870B8F}"/>
              </a:ext>
            </a:extLst>
          </p:cNvPr>
          <p:cNvSpPr txBox="1"/>
          <p:nvPr/>
        </p:nvSpPr>
        <p:spPr>
          <a:xfrm>
            <a:off x="2147268" y="2616835"/>
            <a:ext cx="5606278" cy="400110"/>
          </a:xfrm>
          <a:prstGeom prst="rect">
            <a:avLst/>
          </a:prstGeom>
          <a:noFill/>
        </p:spPr>
        <p:txBody>
          <a:bodyPr wrap="square" rtlCol="0">
            <a:spAutoFit/>
          </a:bodyPr>
          <a:lstStyle/>
          <a:p>
            <a:r>
              <a:rPr lang="fr-FR" sz="2000" b="1" dirty="0"/>
              <a:t>2. Outils nécessaires pour ce projet</a:t>
            </a:r>
          </a:p>
        </p:txBody>
      </p:sp>
      <p:sp>
        <p:nvSpPr>
          <p:cNvPr id="5" name="ZoneTexte 4">
            <a:extLst>
              <a:ext uri="{FF2B5EF4-FFF2-40B4-BE49-F238E27FC236}">
                <a16:creationId xmlns:a16="http://schemas.microsoft.com/office/drawing/2014/main" id="{24C1DF4A-440D-F847-47F5-CD3D5EFD0C35}"/>
              </a:ext>
            </a:extLst>
          </p:cNvPr>
          <p:cNvSpPr txBox="1"/>
          <p:nvPr/>
        </p:nvSpPr>
        <p:spPr>
          <a:xfrm>
            <a:off x="2147269" y="3016945"/>
            <a:ext cx="4685122" cy="400110"/>
          </a:xfrm>
          <a:prstGeom prst="rect">
            <a:avLst/>
          </a:prstGeom>
          <a:noFill/>
        </p:spPr>
        <p:txBody>
          <a:bodyPr wrap="square" rtlCol="0">
            <a:spAutoFit/>
          </a:bodyPr>
          <a:lstStyle/>
          <a:p>
            <a:r>
              <a:rPr lang="fr-FR" sz="2000" b="1" dirty="0"/>
              <a:t>3. </a:t>
            </a:r>
            <a:r>
              <a:rPr lang="fr-FR" sz="2000" b="1" dirty="0" err="1"/>
              <a:t>Creation</a:t>
            </a:r>
            <a:r>
              <a:rPr lang="fr-FR" sz="2000" b="1" dirty="0"/>
              <a:t> de la base de </a:t>
            </a:r>
            <a:r>
              <a:rPr lang="fr-FR" sz="2000" b="1" dirty="0" err="1"/>
              <a:t>donnees</a:t>
            </a:r>
            <a:endParaRPr lang="fr-FR" sz="2000" dirty="0"/>
          </a:p>
        </p:txBody>
      </p:sp>
      <p:sp>
        <p:nvSpPr>
          <p:cNvPr id="6" name="ZoneTexte 5">
            <a:extLst>
              <a:ext uri="{FF2B5EF4-FFF2-40B4-BE49-F238E27FC236}">
                <a16:creationId xmlns:a16="http://schemas.microsoft.com/office/drawing/2014/main" id="{3B061281-ACCB-9069-A37E-0FB1925EB517}"/>
              </a:ext>
            </a:extLst>
          </p:cNvPr>
          <p:cNvSpPr txBox="1"/>
          <p:nvPr/>
        </p:nvSpPr>
        <p:spPr>
          <a:xfrm>
            <a:off x="2147269" y="3412414"/>
            <a:ext cx="4685122" cy="400110"/>
          </a:xfrm>
          <a:prstGeom prst="rect">
            <a:avLst/>
          </a:prstGeom>
          <a:noFill/>
        </p:spPr>
        <p:txBody>
          <a:bodyPr wrap="square" rtlCol="0">
            <a:spAutoFit/>
          </a:bodyPr>
          <a:lstStyle/>
          <a:p>
            <a:r>
              <a:rPr lang="fr-FR" sz="2000" b="1" dirty="0"/>
              <a:t>4. Choi de Modèle en Flocon </a:t>
            </a:r>
          </a:p>
        </p:txBody>
      </p:sp>
      <p:sp>
        <p:nvSpPr>
          <p:cNvPr id="9" name="ZoneTexte 8">
            <a:extLst>
              <a:ext uri="{FF2B5EF4-FFF2-40B4-BE49-F238E27FC236}">
                <a16:creationId xmlns:a16="http://schemas.microsoft.com/office/drawing/2014/main" id="{5EDBEE92-9FD0-630A-95C1-EFB681A50F84}"/>
              </a:ext>
            </a:extLst>
          </p:cNvPr>
          <p:cNvSpPr txBox="1"/>
          <p:nvPr/>
        </p:nvSpPr>
        <p:spPr>
          <a:xfrm>
            <a:off x="2147268" y="3820770"/>
            <a:ext cx="7453932" cy="400110"/>
          </a:xfrm>
          <a:prstGeom prst="rect">
            <a:avLst/>
          </a:prstGeom>
          <a:noFill/>
        </p:spPr>
        <p:txBody>
          <a:bodyPr wrap="square" rtlCol="0">
            <a:spAutoFit/>
          </a:bodyPr>
          <a:lstStyle/>
          <a:p>
            <a:r>
              <a:rPr lang="fr-FR" sz="2000" b="1" dirty="0"/>
              <a:t>5. Implémentation d’un Job Global pour le Processus ETL</a:t>
            </a:r>
          </a:p>
        </p:txBody>
      </p:sp>
      <p:sp>
        <p:nvSpPr>
          <p:cNvPr id="10" name="ZoneTexte 9">
            <a:extLst>
              <a:ext uri="{FF2B5EF4-FFF2-40B4-BE49-F238E27FC236}">
                <a16:creationId xmlns:a16="http://schemas.microsoft.com/office/drawing/2014/main" id="{86D405CD-C902-7744-882D-B2869F81E8C8}"/>
              </a:ext>
            </a:extLst>
          </p:cNvPr>
          <p:cNvSpPr txBox="1"/>
          <p:nvPr/>
        </p:nvSpPr>
        <p:spPr>
          <a:xfrm>
            <a:off x="2147268" y="4229126"/>
            <a:ext cx="8217503" cy="400110"/>
          </a:xfrm>
          <a:prstGeom prst="rect">
            <a:avLst/>
          </a:prstGeom>
          <a:noFill/>
        </p:spPr>
        <p:txBody>
          <a:bodyPr wrap="square" rtlCol="0">
            <a:spAutoFit/>
          </a:bodyPr>
          <a:lstStyle/>
          <a:p>
            <a:r>
              <a:rPr lang="fr-FR" sz="2000" b="1" dirty="0"/>
              <a:t>6. Configuration du Fichier JAR avec le Planificateur de Tâches</a:t>
            </a:r>
          </a:p>
        </p:txBody>
      </p:sp>
      <p:sp>
        <p:nvSpPr>
          <p:cNvPr id="11" name="ZoneTexte 10">
            <a:extLst>
              <a:ext uri="{FF2B5EF4-FFF2-40B4-BE49-F238E27FC236}">
                <a16:creationId xmlns:a16="http://schemas.microsoft.com/office/drawing/2014/main" id="{AB9211B0-AA11-1BAF-A081-9F51AE36FF18}"/>
              </a:ext>
            </a:extLst>
          </p:cNvPr>
          <p:cNvSpPr txBox="1"/>
          <p:nvPr/>
        </p:nvSpPr>
        <p:spPr>
          <a:xfrm>
            <a:off x="2147268" y="4624595"/>
            <a:ext cx="9150757" cy="4001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fr-FR" altLang="fr-FR" sz="2000" b="1" dirty="0"/>
              <a:t>7. Tableau de Bord Interactif des Ventes avec Dash et </a:t>
            </a:r>
            <a:r>
              <a:rPr lang="fr-FR" altLang="fr-FR" sz="2000" b="1" dirty="0" err="1"/>
              <a:t>Plotly</a:t>
            </a:r>
            <a:endParaRPr lang="fr-FR" altLang="fr-FR" sz="2000" b="1" dirty="0"/>
          </a:p>
        </p:txBody>
      </p:sp>
    </p:spTree>
    <p:extLst>
      <p:ext uri="{BB962C8B-B14F-4D97-AF65-F5344CB8AC3E}">
        <p14:creationId xmlns:p14="http://schemas.microsoft.com/office/powerpoint/2010/main" val="118490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4554E339-1CF8-30BC-8F1F-0C494FA68FD4}"/>
              </a:ext>
            </a:extLst>
          </p:cNvPr>
          <p:cNvSpPr txBox="1"/>
          <p:nvPr/>
        </p:nvSpPr>
        <p:spPr>
          <a:xfrm>
            <a:off x="1024377" y="770676"/>
            <a:ext cx="3462779" cy="461665"/>
          </a:xfrm>
          <a:prstGeom prst="rect">
            <a:avLst/>
          </a:prstGeom>
          <a:noFill/>
        </p:spPr>
        <p:txBody>
          <a:bodyPr wrap="square" rtlCol="0">
            <a:spAutoFit/>
          </a:bodyPr>
          <a:lstStyle/>
          <a:p>
            <a:r>
              <a:rPr lang="fr-FR" sz="2400" b="1" dirty="0"/>
              <a:t>1. Description du Projet</a:t>
            </a:r>
            <a:endParaRPr lang="fr-FR" sz="2400" dirty="0"/>
          </a:p>
        </p:txBody>
      </p:sp>
      <p:sp>
        <p:nvSpPr>
          <p:cNvPr id="2" name="ZoneTexte 1">
            <a:extLst>
              <a:ext uri="{FF2B5EF4-FFF2-40B4-BE49-F238E27FC236}">
                <a16:creationId xmlns:a16="http://schemas.microsoft.com/office/drawing/2014/main" id="{6B854E16-F311-C0CA-7AB5-CD1ED52B45CE}"/>
              </a:ext>
            </a:extLst>
          </p:cNvPr>
          <p:cNvSpPr txBox="1"/>
          <p:nvPr/>
        </p:nvSpPr>
        <p:spPr>
          <a:xfrm>
            <a:off x="1024377" y="1395723"/>
            <a:ext cx="10143243" cy="1015663"/>
          </a:xfrm>
          <a:prstGeom prst="rect">
            <a:avLst/>
          </a:prstGeom>
          <a:noFill/>
        </p:spPr>
        <p:txBody>
          <a:bodyPr wrap="square" rtlCol="0">
            <a:spAutoFit/>
          </a:bodyPr>
          <a:lstStyle/>
          <a:p>
            <a:r>
              <a:rPr lang="fr-FR" sz="2000" dirty="0"/>
              <a:t>Ce projet consiste à développer un système décisionnel basé sur la base de données </a:t>
            </a:r>
            <a:r>
              <a:rPr lang="fr-FR" sz="2000" dirty="0" err="1"/>
              <a:t>Northwind</a:t>
            </a:r>
            <a:r>
              <a:rPr lang="fr-FR" sz="2000" dirty="0"/>
              <a:t> (préalablement partagée) afin de générer un tableau de bord interactif et en temps réel à l’aide de Dash. Il repose sur plusieurs étapes essentielles :</a:t>
            </a:r>
          </a:p>
        </p:txBody>
      </p:sp>
      <p:sp>
        <p:nvSpPr>
          <p:cNvPr id="3" name="ZoneTexte 2">
            <a:extLst>
              <a:ext uri="{FF2B5EF4-FFF2-40B4-BE49-F238E27FC236}">
                <a16:creationId xmlns:a16="http://schemas.microsoft.com/office/drawing/2014/main" id="{6031E70C-97B7-09BD-BC1B-7350201AD394}"/>
              </a:ext>
            </a:extLst>
          </p:cNvPr>
          <p:cNvSpPr txBox="1"/>
          <p:nvPr/>
        </p:nvSpPr>
        <p:spPr>
          <a:xfrm>
            <a:off x="1432868" y="2574768"/>
            <a:ext cx="9228843" cy="646331"/>
          </a:xfrm>
          <a:prstGeom prst="rect">
            <a:avLst/>
          </a:prstGeom>
          <a:noFill/>
        </p:spPr>
        <p:txBody>
          <a:bodyPr wrap="square" rtlCol="0">
            <a:spAutoFit/>
          </a:bodyPr>
          <a:lstStyle/>
          <a:p>
            <a:pPr>
              <a:buFont typeface="Arial" panose="020B0604020202020204" pitchFamily="34" charset="0"/>
              <a:buChar char="•"/>
            </a:pPr>
            <a:r>
              <a:rPr lang="fr-FR" b="1" dirty="0"/>
              <a:t>Sources de données</a:t>
            </a:r>
            <a:r>
              <a:rPr lang="fr-FR" dirty="0"/>
              <a:t> : Les données </a:t>
            </a:r>
            <a:r>
              <a:rPr lang="fr-FR" dirty="0" err="1"/>
              <a:t>Northwind</a:t>
            </a:r>
            <a:r>
              <a:rPr lang="fr-FR" dirty="0"/>
              <a:t> seront intégrées et préparées à l’aide de Talend pour automatiser les processus ETL.</a:t>
            </a:r>
          </a:p>
        </p:txBody>
      </p:sp>
      <p:sp>
        <p:nvSpPr>
          <p:cNvPr id="4" name="ZoneTexte 3">
            <a:extLst>
              <a:ext uri="{FF2B5EF4-FFF2-40B4-BE49-F238E27FC236}">
                <a16:creationId xmlns:a16="http://schemas.microsoft.com/office/drawing/2014/main" id="{6D18D245-6F8B-14AB-8F7F-E12F23B8F71C}"/>
              </a:ext>
            </a:extLst>
          </p:cNvPr>
          <p:cNvSpPr txBox="1"/>
          <p:nvPr/>
        </p:nvSpPr>
        <p:spPr>
          <a:xfrm>
            <a:off x="1432870" y="3339198"/>
            <a:ext cx="9228843" cy="923330"/>
          </a:xfrm>
          <a:prstGeom prst="rect">
            <a:avLst/>
          </a:prstGeom>
          <a:noFill/>
        </p:spPr>
        <p:txBody>
          <a:bodyPr wrap="square" rtlCol="0">
            <a:spAutoFit/>
          </a:bodyPr>
          <a:lstStyle/>
          <a:p>
            <a:pPr>
              <a:buFont typeface="Arial" panose="020B0604020202020204" pitchFamily="34" charset="0"/>
              <a:buChar char="•"/>
            </a:pPr>
            <a:r>
              <a:rPr lang="fr-FR" b="1" dirty="0"/>
              <a:t>Automatisation ETL</a:t>
            </a:r>
            <a:r>
              <a:rPr lang="fr-FR" dirty="0"/>
              <a:t> : Les flux ETL seront conçus avec Talend, exportés sous forme de fichiers JAR, puis planifiés via le Planificateur de tâches de Windows afin d’assurer une mise à jour en temps réel.</a:t>
            </a:r>
          </a:p>
        </p:txBody>
      </p:sp>
      <p:sp>
        <p:nvSpPr>
          <p:cNvPr id="5" name="ZoneTexte 4">
            <a:extLst>
              <a:ext uri="{FF2B5EF4-FFF2-40B4-BE49-F238E27FC236}">
                <a16:creationId xmlns:a16="http://schemas.microsoft.com/office/drawing/2014/main" id="{E628E4CE-3387-75BF-4E21-F2430B1C32FE}"/>
              </a:ext>
            </a:extLst>
          </p:cNvPr>
          <p:cNvSpPr txBox="1"/>
          <p:nvPr/>
        </p:nvSpPr>
        <p:spPr>
          <a:xfrm>
            <a:off x="1432870" y="4380627"/>
            <a:ext cx="9228843" cy="646331"/>
          </a:xfrm>
          <a:prstGeom prst="rect">
            <a:avLst/>
          </a:prstGeom>
          <a:noFill/>
        </p:spPr>
        <p:txBody>
          <a:bodyPr wrap="square" rtlCol="0">
            <a:spAutoFit/>
          </a:bodyPr>
          <a:lstStyle/>
          <a:p>
            <a:pPr>
              <a:buFont typeface="Arial" panose="020B0604020202020204" pitchFamily="34" charset="0"/>
              <a:buChar char="•"/>
            </a:pPr>
            <a:r>
              <a:rPr lang="fr-FR" b="1" dirty="0"/>
              <a:t>Création de la base de données analytique (Data Warehouse)</a:t>
            </a:r>
            <a:r>
              <a:rPr lang="fr-FR" dirty="0"/>
              <a:t> : Une base de données analytique sera mise en place et actualisée par les jobs Talend.</a:t>
            </a:r>
          </a:p>
        </p:txBody>
      </p:sp>
      <p:sp>
        <p:nvSpPr>
          <p:cNvPr id="6" name="ZoneTexte 5">
            <a:extLst>
              <a:ext uri="{FF2B5EF4-FFF2-40B4-BE49-F238E27FC236}">
                <a16:creationId xmlns:a16="http://schemas.microsoft.com/office/drawing/2014/main" id="{FA9F81F6-D888-1359-DD11-2AB2E097FC6F}"/>
              </a:ext>
            </a:extLst>
          </p:cNvPr>
          <p:cNvSpPr txBox="1"/>
          <p:nvPr/>
        </p:nvSpPr>
        <p:spPr>
          <a:xfrm>
            <a:off x="1432869" y="5145057"/>
            <a:ext cx="9228843" cy="923330"/>
          </a:xfrm>
          <a:prstGeom prst="rect">
            <a:avLst/>
          </a:prstGeom>
          <a:noFill/>
        </p:spPr>
        <p:txBody>
          <a:bodyPr wrap="square" rtlCol="0">
            <a:spAutoFit/>
          </a:bodyPr>
          <a:lstStyle/>
          <a:p>
            <a:pPr>
              <a:buFont typeface="Arial" panose="020B0604020202020204" pitchFamily="34" charset="0"/>
              <a:buChar char="•"/>
            </a:pPr>
            <a:r>
              <a:rPr lang="fr-FR" b="1" dirty="0"/>
              <a:t>Export en fichiers CSV</a:t>
            </a:r>
            <a:r>
              <a:rPr lang="fr-FR" dirty="0"/>
              <a:t> : En alternative, la base analytique pourra être représentée sous forme de fichiers CSV, générés et mis à jour par Talend. Dans les deux cas, que ce soit via la base de données analytique ou les fichiers CSV, ces sources serviront d’entrée aux scripts de visualisation.</a:t>
            </a:r>
          </a:p>
        </p:txBody>
      </p:sp>
    </p:spTree>
    <p:extLst>
      <p:ext uri="{BB962C8B-B14F-4D97-AF65-F5344CB8AC3E}">
        <p14:creationId xmlns:p14="http://schemas.microsoft.com/office/powerpoint/2010/main" val="1588584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4554E339-1CF8-30BC-8F1F-0C494FA68FD4}"/>
              </a:ext>
            </a:extLst>
          </p:cNvPr>
          <p:cNvSpPr txBox="1"/>
          <p:nvPr/>
        </p:nvSpPr>
        <p:spPr>
          <a:xfrm>
            <a:off x="889262" y="813173"/>
            <a:ext cx="5784915" cy="461665"/>
          </a:xfrm>
          <a:prstGeom prst="rect">
            <a:avLst/>
          </a:prstGeom>
          <a:noFill/>
        </p:spPr>
        <p:txBody>
          <a:bodyPr wrap="square" rtlCol="0">
            <a:spAutoFit/>
          </a:bodyPr>
          <a:lstStyle/>
          <a:p>
            <a:r>
              <a:rPr lang="fr-FR" sz="2400" b="1" dirty="0"/>
              <a:t>2. Outils nécessaires pour ce projet :</a:t>
            </a:r>
          </a:p>
        </p:txBody>
      </p:sp>
      <p:sp>
        <p:nvSpPr>
          <p:cNvPr id="4" name="ZoneTexte 3">
            <a:extLst>
              <a:ext uri="{FF2B5EF4-FFF2-40B4-BE49-F238E27FC236}">
                <a16:creationId xmlns:a16="http://schemas.microsoft.com/office/drawing/2014/main" id="{A541EFA6-8F9B-C723-E217-597DAB8BBBE2}"/>
              </a:ext>
            </a:extLst>
          </p:cNvPr>
          <p:cNvSpPr txBox="1"/>
          <p:nvPr/>
        </p:nvSpPr>
        <p:spPr>
          <a:xfrm>
            <a:off x="1601823" y="2813471"/>
            <a:ext cx="3912129" cy="584775"/>
          </a:xfrm>
          <a:prstGeom prst="rect">
            <a:avLst/>
          </a:prstGeom>
          <a:noFill/>
        </p:spPr>
        <p:txBody>
          <a:bodyPr wrap="square" rtlCol="0">
            <a:spAutoFit/>
          </a:bodyPr>
          <a:lstStyle/>
          <a:p>
            <a:pPr marL="342900" indent="-342900">
              <a:buFont typeface="Arial" panose="020B0604020202020204" pitchFamily="34" charset="0"/>
              <a:buChar char="•"/>
            </a:pPr>
            <a:r>
              <a:rPr lang="fr-FR" sz="3200" dirty="0"/>
              <a:t>MySQL Workbench</a:t>
            </a:r>
          </a:p>
        </p:txBody>
      </p:sp>
      <p:sp>
        <p:nvSpPr>
          <p:cNvPr id="5" name="ZoneTexte 4">
            <a:extLst>
              <a:ext uri="{FF2B5EF4-FFF2-40B4-BE49-F238E27FC236}">
                <a16:creationId xmlns:a16="http://schemas.microsoft.com/office/drawing/2014/main" id="{86E8F120-6562-EA34-6882-520FB7B2E76B}"/>
              </a:ext>
            </a:extLst>
          </p:cNvPr>
          <p:cNvSpPr txBox="1"/>
          <p:nvPr/>
        </p:nvSpPr>
        <p:spPr>
          <a:xfrm>
            <a:off x="1601823" y="3429000"/>
            <a:ext cx="3912129" cy="584775"/>
          </a:xfrm>
          <a:prstGeom prst="rect">
            <a:avLst/>
          </a:prstGeom>
          <a:noFill/>
        </p:spPr>
        <p:txBody>
          <a:bodyPr wrap="square" rtlCol="0">
            <a:spAutoFit/>
          </a:bodyPr>
          <a:lstStyle/>
          <a:p>
            <a:pPr marL="342900" indent="-342900">
              <a:buFont typeface="Arial" panose="020B0604020202020204" pitchFamily="34" charset="0"/>
              <a:buChar char="•"/>
            </a:pPr>
            <a:r>
              <a:rPr lang="fr-FR" sz="3200" dirty="0"/>
              <a:t>JDK 11</a:t>
            </a:r>
          </a:p>
        </p:txBody>
      </p:sp>
      <p:sp>
        <p:nvSpPr>
          <p:cNvPr id="6" name="ZoneTexte 5">
            <a:extLst>
              <a:ext uri="{FF2B5EF4-FFF2-40B4-BE49-F238E27FC236}">
                <a16:creationId xmlns:a16="http://schemas.microsoft.com/office/drawing/2014/main" id="{B68B8B37-C85C-4892-4D20-2E5AD2DC8D2F}"/>
              </a:ext>
            </a:extLst>
          </p:cNvPr>
          <p:cNvSpPr txBox="1"/>
          <p:nvPr/>
        </p:nvSpPr>
        <p:spPr>
          <a:xfrm>
            <a:off x="1601823" y="4044529"/>
            <a:ext cx="3912129" cy="584775"/>
          </a:xfrm>
          <a:prstGeom prst="rect">
            <a:avLst/>
          </a:prstGeom>
          <a:noFill/>
        </p:spPr>
        <p:txBody>
          <a:bodyPr wrap="square" rtlCol="0">
            <a:spAutoFit/>
          </a:bodyPr>
          <a:lstStyle/>
          <a:p>
            <a:pPr marL="342900" indent="-342900">
              <a:buFont typeface="Arial" panose="020B0604020202020204" pitchFamily="34" charset="0"/>
              <a:buChar char="•"/>
            </a:pPr>
            <a:r>
              <a:rPr lang="fr-FR" sz="3200" dirty="0"/>
              <a:t>Talend</a:t>
            </a:r>
          </a:p>
        </p:txBody>
      </p:sp>
      <p:pic>
        <p:nvPicPr>
          <p:cNvPr id="11" name="Image 10">
            <a:extLst>
              <a:ext uri="{FF2B5EF4-FFF2-40B4-BE49-F238E27FC236}">
                <a16:creationId xmlns:a16="http://schemas.microsoft.com/office/drawing/2014/main" id="{BD22775C-96F7-CD69-08BC-1A645F8BE4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9290" y="4617166"/>
            <a:ext cx="2192218" cy="1132553"/>
          </a:xfrm>
          <a:prstGeom prst="rect">
            <a:avLst/>
          </a:prstGeom>
        </p:spPr>
      </p:pic>
      <p:pic>
        <p:nvPicPr>
          <p:cNvPr id="13" name="Image 12">
            <a:extLst>
              <a:ext uri="{FF2B5EF4-FFF2-40B4-BE49-F238E27FC236}">
                <a16:creationId xmlns:a16="http://schemas.microsoft.com/office/drawing/2014/main" id="{F7B44B3E-B8B4-9BC6-4E5C-4A269434DA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1648" y="3466219"/>
            <a:ext cx="2373176" cy="590513"/>
          </a:xfrm>
          <a:prstGeom prst="rect">
            <a:avLst/>
          </a:prstGeom>
        </p:spPr>
      </p:pic>
      <p:pic>
        <p:nvPicPr>
          <p:cNvPr id="15" name="Image 14">
            <a:extLst>
              <a:ext uri="{FF2B5EF4-FFF2-40B4-BE49-F238E27FC236}">
                <a16:creationId xmlns:a16="http://schemas.microsoft.com/office/drawing/2014/main" id="{88EF1E05-8747-1981-F1AD-BE6AC50A15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9118" y="1969968"/>
            <a:ext cx="855706" cy="855706"/>
          </a:xfrm>
          <a:prstGeom prst="rect">
            <a:avLst/>
          </a:prstGeom>
        </p:spPr>
      </p:pic>
      <p:pic>
        <p:nvPicPr>
          <p:cNvPr id="17" name="Image 16">
            <a:extLst>
              <a:ext uri="{FF2B5EF4-FFF2-40B4-BE49-F238E27FC236}">
                <a16:creationId xmlns:a16="http://schemas.microsoft.com/office/drawing/2014/main" id="{EA37CBB3-0FFD-A3FF-4286-259BD8D762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43624" y="2050080"/>
            <a:ext cx="855705" cy="855705"/>
          </a:xfrm>
          <a:prstGeom prst="rect">
            <a:avLst/>
          </a:prstGeom>
        </p:spPr>
      </p:pic>
    </p:spTree>
    <p:extLst>
      <p:ext uri="{BB962C8B-B14F-4D97-AF65-F5344CB8AC3E}">
        <p14:creationId xmlns:p14="http://schemas.microsoft.com/office/powerpoint/2010/main" val="650176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B8340723-A16A-166B-D00B-35365E432581}"/>
              </a:ext>
            </a:extLst>
          </p:cNvPr>
          <p:cNvSpPr/>
          <p:nvPr/>
        </p:nvSpPr>
        <p:spPr>
          <a:xfrm>
            <a:off x="7799587" y="2432129"/>
            <a:ext cx="3691687" cy="324280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4554E339-1CF8-30BC-8F1F-0C494FA68FD4}"/>
              </a:ext>
            </a:extLst>
          </p:cNvPr>
          <p:cNvSpPr txBox="1"/>
          <p:nvPr/>
        </p:nvSpPr>
        <p:spPr>
          <a:xfrm>
            <a:off x="754140" y="768746"/>
            <a:ext cx="4986784" cy="461665"/>
          </a:xfrm>
          <a:prstGeom prst="rect">
            <a:avLst/>
          </a:prstGeom>
          <a:noFill/>
        </p:spPr>
        <p:txBody>
          <a:bodyPr wrap="square" rtlCol="0">
            <a:spAutoFit/>
          </a:bodyPr>
          <a:lstStyle/>
          <a:p>
            <a:r>
              <a:rPr lang="fr-FR" sz="2400" b="1" dirty="0"/>
              <a:t>3. </a:t>
            </a:r>
            <a:r>
              <a:rPr lang="fr-FR" sz="2400" b="1" dirty="0" err="1"/>
              <a:t>Creation</a:t>
            </a:r>
            <a:r>
              <a:rPr lang="fr-FR" sz="2400" b="1" dirty="0"/>
              <a:t> de la base de </a:t>
            </a:r>
            <a:r>
              <a:rPr lang="fr-FR" sz="2400" b="1" dirty="0" err="1"/>
              <a:t>donnees</a:t>
            </a:r>
            <a:endParaRPr lang="fr-FR" sz="2400" dirty="0"/>
          </a:p>
        </p:txBody>
      </p:sp>
      <p:sp>
        <p:nvSpPr>
          <p:cNvPr id="2" name="ZoneTexte 1">
            <a:extLst>
              <a:ext uri="{FF2B5EF4-FFF2-40B4-BE49-F238E27FC236}">
                <a16:creationId xmlns:a16="http://schemas.microsoft.com/office/drawing/2014/main" id="{6B854E16-F311-C0CA-7AB5-CD1ED52B45CE}"/>
              </a:ext>
            </a:extLst>
          </p:cNvPr>
          <p:cNvSpPr txBox="1"/>
          <p:nvPr/>
        </p:nvSpPr>
        <p:spPr>
          <a:xfrm>
            <a:off x="1111264" y="2383327"/>
            <a:ext cx="6221697" cy="707886"/>
          </a:xfrm>
          <a:prstGeom prst="rect">
            <a:avLst/>
          </a:prstGeom>
          <a:noFill/>
        </p:spPr>
        <p:txBody>
          <a:bodyPr wrap="square" rtlCol="0">
            <a:spAutoFit/>
          </a:bodyPr>
          <a:lstStyle/>
          <a:p>
            <a:r>
              <a:rPr lang="fr-FR" sz="2000" dirty="0"/>
              <a:t>Création de la base de données </a:t>
            </a:r>
            <a:r>
              <a:rPr lang="fr-FR" sz="2000" dirty="0" err="1"/>
              <a:t>Northwind</a:t>
            </a:r>
            <a:r>
              <a:rPr lang="fr-FR" sz="2000" dirty="0"/>
              <a:t> et exécution des deux scripts SQL.</a:t>
            </a:r>
          </a:p>
        </p:txBody>
      </p:sp>
      <p:sp>
        <p:nvSpPr>
          <p:cNvPr id="8" name="Rectangle 2">
            <a:extLst>
              <a:ext uri="{FF2B5EF4-FFF2-40B4-BE49-F238E27FC236}">
                <a16:creationId xmlns:a16="http://schemas.microsoft.com/office/drawing/2014/main" id="{E8AB7E94-C5E9-0152-A8BD-AE25C1E97A9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aphicFrame>
        <p:nvGraphicFramePr>
          <p:cNvPr id="10" name="Objet 9">
            <a:extLst>
              <a:ext uri="{FF2B5EF4-FFF2-40B4-BE49-F238E27FC236}">
                <a16:creationId xmlns:a16="http://schemas.microsoft.com/office/drawing/2014/main" id="{27931EB4-D843-C10B-F674-776AFC35D419}"/>
              </a:ext>
            </a:extLst>
          </p:cNvPr>
          <p:cNvGraphicFramePr>
            <a:graphicFrameLocks noChangeAspect="1"/>
          </p:cNvGraphicFramePr>
          <p:nvPr>
            <p:extLst>
              <p:ext uri="{D42A27DB-BD31-4B8C-83A1-F6EECF244321}">
                <p14:modId xmlns:p14="http://schemas.microsoft.com/office/powerpoint/2010/main" val="2069568041"/>
              </p:ext>
            </p:extLst>
          </p:nvPr>
        </p:nvGraphicFramePr>
        <p:xfrm>
          <a:off x="1111264" y="3623649"/>
          <a:ext cx="735297" cy="474930"/>
        </p:xfrm>
        <a:graphic>
          <a:graphicData uri="http://schemas.openxmlformats.org/presentationml/2006/ole">
            <mc:AlternateContent xmlns:mc="http://schemas.openxmlformats.org/markup-compatibility/2006">
              <mc:Choice xmlns:v="urn:schemas-microsoft-com:vml" Requires="v">
                <p:oleObj name="Objet d’environnement du Gestionnaire de liaisons" showAsIcon="1" r:id="rId2" imgW="964944" imgH="627625" progId="Package">
                  <p:embed/>
                </p:oleObj>
              </mc:Choice>
              <mc:Fallback>
                <p:oleObj name="Objet d’environnement du Gestionnaire de liaisons" showAsIcon="1" r:id="rId2" imgW="964944" imgH="627625" progId="Packag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264" y="3623649"/>
                        <a:ext cx="735297" cy="474930"/>
                      </a:xfrm>
                      <a:prstGeom prst="rect">
                        <a:avLst/>
                      </a:prstGeom>
                      <a:noFill/>
                    </p:spPr>
                  </p:pic>
                </p:oleObj>
              </mc:Fallback>
            </mc:AlternateContent>
          </a:graphicData>
        </a:graphic>
      </p:graphicFrame>
      <p:graphicFrame>
        <p:nvGraphicFramePr>
          <p:cNvPr id="11" name="Objet 10">
            <a:extLst>
              <a:ext uri="{FF2B5EF4-FFF2-40B4-BE49-F238E27FC236}">
                <a16:creationId xmlns:a16="http://schemas.microsoft.com/office/drawing/2014/main" id="{D59B6878-1194-004E-F6D1-A34A42C57CB9}"/>
              </a:ext>
            </a:extLst>
          </p:cNvPr>
          <p:cNvGraphicFramePr>
            <a:graphicFrameLocks noChangeAspect="1"/>
          </p:cNvGraphicFramePr>
          <p:nvPr>
            <p:extLst>
              <p:ext uri="{D42A27DB-BD31-4B8C-83A1-F6EECF244321}">
                <p14:modId xmlns:p14="http://schemas.microsoft.com/office/powerpoint/2010/main" val="1569787590"/>
              </p:ext>
            </p:extLst>
          </p:nvPr>
        </p:nvGraphicFramePr>
        <p:xfrm>
          <a:off x="1111264" y="4718601"/>
          <a:ext cx="735298" cy="474930"/>
        </p:xfrm>
        <a:graphic>
          <a:graphicData uri="http://schemas.openxmlformats.org/presentationml/2006/ole">
            <mc:AlternateContent xmlns:mc="http://schemas.openxmlformats.org/markup-compatibility/2006">
              <mc:Choice xmlns:v="urn:schemas-microsoft-com:vml" Requires="v">
                <p:oleObj name="Objet d’environnement du Gestionnaire de liaisons" showAsIcon="1" r:id="rId4" imgW="964944" imgH="627625" progId="Package">
                  <p:embed/>
                </p:oleObj>
              </mc:Choice>
              <mc:Fallback>
                <p:oleObj name="Objet d’environnement du Gestionnaire de liaisons" showAsIcon="1" r:id="rId4" imgW="964944" imgH="627625" progId="Package">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1264" y="4718601"/>
                        <a:ext cx="735298" cy="474930"/>
                      </a:xfrm>
                      <a:prstGeom prst="rect">
                        <a:avLst/>
                      </a:prstGeom>
                      <a:noFill/>
                    </p:spPr>
                  </p:pic>
                </p:oleObj>
              </mc:Fallback>
            </mc:AlternateContent>
          </a:graphicData>
        </a:graphic>
      </p:graphicFrame>
      <p:sp>
        <p:nvSpPr>
          <p:cNvPr id="17" name="Rectangle 8">
            <a:extLst>
              <a:ext uri="{FF2B5EF4-FFF2-40B4-BE49-F238E27FC236}">
                <a16:creationId xmlns:a16="http://schemas.microsoft.com/office/drawing/2014/main" id="{62795439-C821-5187-B7DB-7A17B786F14E}"/>
              </a:ext>
            </a:extLst>
          </p:cNvPr>
          <p:cNvSpPr>
            <a:spLocks noChangeArrowheads="1"/>
          </p:cNvSpPr>
          <p:nvPr/>
        </p:nvSpPr>
        <p:spPr bwMode="auto">
          <a:xfrm>
            <a:off x="2190637" y="3600914"/>
            <a:ext cx="41493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Arial" panose="020B0604020202020204" pitchFamily="34" charset="0"/>
              </a:rPr>
              <a:t>Ce fichier permet la création des tables de la base de données </a:t>
            </a:r>
            <a:r>
              <a:rPr kumimoji="0" lang="fr-FR" altLang="fr-FR" sz="1400" b="0" i="0" u="none" strike="noStrike" cap="none" normalizeH="0" baseline="0" dirty="0" err="1">
                <a:ln>
                  <a:noFill/>
                </a:ln>
                <a:solidFill>
                  <a:schemeClr val="tx1"/>
                </a:solidFill>
                <a:effectLst/>
                <a:latin typeface="Arial" panose="020B0604020202020204" pitchFamily="34" charset="0"/>
              </a:rPr>
              <a:t>Northwind</a:t>
            </a:r>
            <a:r>
              <a:rPr kumimoji="0" lang="fr-FR" altLang="fr-FR" sz="1400" b="0" i="0" u="none" strike="noStrike" cap="none" normalizeH="0" baseline="0" dirty="0">
                <a:ln>
                  <a:noFill/>
                </a:ln>
                <a:solidFill>
                  <a:schemeClr val="tx1"/>
                </a:solidFill>
                <a:effectLst/>
                <a:latin typeface="Arial" panose="020B0604020202020204" pitchFamily="34" charset="0"/>
              </a:rPr>
              <a:t>.</a:t>
            </a:r>
          </a:p>
        </p:txBody>
      </p:sp>
      <p:sp>
        <p:nvSpPr>
          <p:cNvPr id="19" name="Rectangle 8">
            <a:extLst>
              <a:ext uri="{FF2B5EF4-FFF2-40B4-BE49-F238E27FC236}">
                <a16:creationId xmlns:a16="http://schemas.microsoft.com/office/drawing/2014/main" id="{E55235E4-64CF-73ED-6216-17C4241B6635}"/>
              </a:ext>
            </a:extLst>
          </p:cNvPr>
          <p:cNvSpPr>
            <a:spLocks noChangeArrowheads="1"/>
          </p:cNvSpPr>
          <p:nvPr/>
        </p:nvSpPr>
        <p:spPr bwMode="auto">
          <a:xfrm>
            <a:off x="2190637" y="4743184"/>
            <a:ext cx="466155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fr-FR" sz="1400" dirty="0">
                <a:latin typeface="Arial" panose="020B0604020202020204" pitchFamily="34" charset="0"/>
              </a:rPr>
              <a:t>Ce fichier permet de charger les données dans les tables de la base de données</a:t>
            </a:r>
            <a:r>
              <a:rPr lang="fr-FR" altLang="fr-FR" sz="1400" dirty="0">
                <a:latin typeface="Arial" panose="020B0604020202020204" pitchFamily="34" charset="0"/>
              </a:rPr>
              <a:t>.</a:t>
            </a:r>
          </a:p>
        </p:txBody>
      </p:sp>
      <p:pic>
        <p:nvPicPr>
          <p:cNvPr id="23" name="Image 22">
            <a:extLst>
              <a:ext uri="{FF2B5EF4-FFF2-40B4-BE49-F238E27FC236}">
                <a16:creationId xmlns:a16="http://schemas.microsoft.com/office/drawing/2014/main" id="{82843B92-3F60-CA70-A864-E647DFA48D8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26249" y="2456660"/>
            <a:ext cx="3602464" cy="3159636"/>
          </a:xfrm>
          <a:prstGeom prst="rect">
            <a:avLst/>
          </a:prstGeom>
        </p:spPr>
      </p:pic>
    </p:spTree>
    <p:extLst>
      <p:ext uri="{BB962C8B-B14F-4D97-AF65-F5344CB8AC3E}">
        <p14:creationId xmlns:p14="http://schemas.microsoft.com/office/powerpoint/2010/main" val="4009061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E6FC25-FFEC-391C-E23D-3276BFA37AB2}"/>
              </a:ext>
            </a:extLst>
          </p:cNvPr>
          <p:cNvSpPr/>
          <p:nvPr/>
        </p:nvSpPr>
        <p:spPr>
          <a:xfrm>
            <a:off x="3073139" y="2680957"/>
            <a:ext cx="5305051" cy="3780803"/>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4554E339-1CF8-30BC-8F1F-0C494FA68FD4}"/>
              </a:ext>
            </a:extLst>
          </p:cNvPr>
          <p:cNvSpPr txBox="1"/>
          <p:nvPr/>
        </p:nvSpPr>
        <p:spPr>
          <a:xfrm>
            <a:off x="913904" y="823301"/>
            <a:ext cx="4414889" cy="461665"/>
          </a:xfrm>
          <a:prstGeom prst="rect">
            <a:avLst/>
          </a:prstGeom>
          <a:noFill/>
        </p:spPr>
        <p:txBody>
          <a:bodyPr wrap="square" rtlCol="0">
            <a:spAutoFit/>
          </a:bodyPr>
          <a:lstStyle/>
          <a:p>
            <a:r>
              <a:rPr lang="fr-FR" sz="2400" b="1" dirty="0"/>
              <a:t>4. Choi de Modèle en Flocon </a:t>
            </a:r>
          </a:p>
        </p:txBody>
      </p:sp>
      <p:sp>
        <p:nvSpPr>
          <p:cNvPr id="8" name="Rectangle 2">
            <a:extLst>
              <a:ext uri="{FF2B5EF4-FFF2-40B4-BE49-F238E27FC236}">
                <a16:creationId xmlns:a16="http://schemas.microsoft.com/office/drawing/2014/main" id="{E8AB7E94-C5E9-0152-A8BD-AE25C1E97A9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pic>
        <p:nvPicPr>
          <p:cNvPr id="4" name="Image 3">
            <a:extLst>
              <a:ext uri="{FF2B5EF4-FFF2-40B4-BE49-F238E27FC236}">
                <a16:creationId xmlns:a16="http://schemas.microsoft.com/office/drawing/2014/main" id="{4014C2D2-C73D-D855-9D98-8BA29E301B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6841" y="2709410"/>
            <a:ext cx="5183758" cy="3655913"/>
          </a:xfrm>
          <a:prstGeom prst="rect">
            <a:avLst/>
          </a:prstGeom>
        </p:spPr>
      </p:pic>
      <p:sp>
        <p:nvSpPr>
          <p:cNvPr id="5" name="ZoneTexte 4">
            <a:extLst>
              <a:ext uri="{FF2B5EF4-FFF2-40B4-BE49-F238E27FC236}">
                <a16:creationId xmlns:a16="http://schemas.microsoft.com/office/drawing/2014/main" id="{BC42ACD9-883E-4EFF-0AC6-D916B741C791}"/>
              </a:ext>
            </a:extLst>
          </p:cNvPr>
          <p:cNvSpPr txBox="1"/>
          <p:nvPr/>
        </p:nvSpPr>
        <p:spPr>
          <a:xfrm>
            <a:off x="913904" y="1659796"/>
            <a:ext cx="10549090" cy="646331"/>
          </a:xfrm>
          <a:prstGeom prst="rect">
            <a:avLst/>
          </a:prstGeom>
          <a:noFill/>
        </p:spPr>
        <p:txBody>
          <a:bodyPr wrap="square" rtlCol="0">
            <a:spAutoFit/>
          </a:bodyPr>
          <a:lstStyle/>
          <a:p>
            <a:r>
              <a:rPr lang="fr-FR" dirty="0"/>
              <a:t>Le </a:t>
            </a:r>
            <a:r>
              <a:rPr lang="fr-FR" b="1" dirty="0"/>
              <a:t>modèle en flocon </a:t>
            </a:r>
            <a:r>
              <a:rPr lang="fr-FR" dirty="0"/>
              <a:t>est une méthode de structuration des bases de données analytiques (</a:t>
            </a:r>
            <a:r>
              <a:rPr lang="fr-FR" i="1" dirty="0"/>
              <a:t>Data Warehouse</a:t>
            </a:r>
            <a:r>
              <a:rPr lang="fr-FR" dirty="0"/>
              <a:t>). Il s'agit d'une extension du </a:t>
            </a:r>
            <a:r>
              <a:rPr lang="fr-FR" b="1" dirty="0"/>
              <a:t>modèle en étoile</a:t>
            </a:r>
            <a:r>
              <a:rPr lang="fr-FR" dirty="0"/>
              <a:t>, où les dimensions</a:t>
            </a:r>
            <a:endParaRPr lang="fr-FR" b="1" dirty="0"/>
          </a:p>
        </p:txBody>
      </p:sp>
    </p:spTree>
    <p:extLst>
      <p:ext uri="{BB962C8B-B14F-4D97-AF65-F5344CB8AC3E}">
        <p14:creationId xmlns:p14="http://schemas.microsoft.com/office/powerpoint/2010/main" val="3991879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4554E339-1CF8-30BC-8F1F-0C494FA68FD4}"/>
              </a:ext>
            </a:extLst>
          </p:cNvPr>
          <p:cNvSpPr txBox="1"/>
          <p:nvPr/>
        </p:nvSpPr>
        <p:spPr>
          <a:xfrm>
            <a:off x="913904" y="823301"/>
            <a:ext cx="8013280" cy="461665"/>
          </a:xfrm>
          <a:prstGeom prst="rect">
            <a:avLst/>
          </a:prstGeom>
          <a:noFill/>
        </p:spPr>
        <p:txBody>
          <a:bodyPr wrap="square" rtlCol="0">
            <a:spAutoFit/>
          </a:bodyPr>
          <a:lstStyle/>
          <a:p>
            <a:r>
              <a:rPr lang="fr-FR" sz="2400" b="1" dirty="0"/>
              <a:t>5. Implémentation d’un Job Global pour le Processus ETL</a:t>
            </a:r>
          </a:p>
        </p:txBody>
      </p:sp>
      <p:sp>
        <p:nvSpPr>
          <p:cNvPr id="8" name="Rectangle 2">
            <a:extLst>
              <a:ext uri="{FF2B5EF4-FFF2-40B4-BE49-F238E27FC236}">
                <a16:creationId xmlns:a16="http://schemas.microsoft.com/office/drawing/2014/main" id="{E8AB7E94-C5E9-0152-A8BD-AE25C1E97A9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3" name="Rectangle 2">
            <a:extLst>
              <a:ext uri="{FF2B5EF4-FFF2-40B4-BE49-F238E27FC236}">
                <a16:creationId xmlns:a16="http://schemas.microsoft.com/office/drawing/2014/main" id="{127259C3-C678-047B-07DD-7749E09AF8E9}"/>
              </a:ext>
            </a:extLst>
          </p:cNvPr>
          <p:cNvSpPr>
            <a:spLocks noChangeArrowheads="1"/>
          </p:cNvSpPr>
          <p:nvPr/>
        </p:nvSpPr>
        <p:spPr bwMode="auto">
          <a:xfrm>
            <a:off x="1108915" y="1646601"/>
            <a:ext cx="865450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fr-FR" altLang="fr-FR" dirty="0"/>
              <a:t>pour le processus ETL un job global est </a:t>
            </a:r>
            <a:r>
              <a:rPr lang="fr-FR" altLang="fr-FR" dirty="0" err="1"/>
              <a:t>implemente</a:t>
            </a:r>
            <a:r>
              <a:rPr lang="fr-FR" altLang="fr-FR" dirty="0"/>
              <a:t>, il est compose de plusieurs sous-jobs </a:t>
            </a:r>
            <a:r>
              <a:rPr lang="fr-FR" altLang="fr-FR" dirty="0" err="1"/>
              <a:t>chaqu'un</a:t>
            </a:r>
            <a:r>
              <a:rPr lang="fr-FR" altLang="fr-FR" dirty="0"/>
              <a:t> est </a:t>
            </a:r>
            <a:r>
              <a:rPr lang="fr-FR" altLang="fr-FR" dirty="0" err="1"/>
              <a:t>didie</a:t>
            </a:r>
            <a:r>
              <a:rPr lang="fr-FR" altLang="fr-FR" dirty="0"/>
              <a:t> pour l'extraction , le transformation et le chargement des </a:t>
            </a:r>
            <a:r>
              <a:rPr lang="fr-FR" altLang="fr-FR" dirty="0" err="1"/>
              <a:t>donnees</a:t>
            </a:r>
            <a:r>
              <a:rPr lang="fr-FR" altLang="fr-FR" dirty="0"/>
              <a:t> d'un des table du </a:t>
            </a:r>
            <a:r>
              <a:rPr lang="fr-FR" altLang="fr-FR" dirty="0" err="1"/>
              <a:t>modele</a:t>
            </a:r>
            <a:r>
              <a:rPr lang="fr-FR" altLang="fr-FR" dirty="0"/>
              <a:t> </a:t>
            </a:r>
            <a:r>
              <a:rPr lang="fr-FR" altLang="fr-FR" dirty="0" err="1"/>
              <a:t>dimensionel</a:t>
            </a:r>
            <a:r>
              <a:rPr lang="fr-FR" altLang="fr-FR" dirty="0"/>
              <a:t> </a:t>
            </a:r>
          </a:p>
        </p:txBody>
      </p:sp>
      <p:pic>
        <p:nvPicPr>
          <p:cNvPr id="10" name="Image 9">
            <a:extLst>
              <a:ext uri="{FF2B5EF4-FFF2-40B4-BE49-F238E27FC236}">
                <a16:creationId xmlns:a16="http://schemas.microsoft.com/office/drawing/2014/main" id="{61022758-EA88-0D9C-33F6-487802106A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3368" y="5491232"/>
            <a:ext cx="3148534" cy="581794"/>
          </a:xfrm>
          <a:prstGeom prst="rect">
            <a:avLst/>
          </a:prstGeom>
        </p:spPr>
      </p:pic>
      <p:pic>
        <p:nvPicPr>
          <p:cNvPr id="12" name="Image 11">
            <a:extLst>
              <a:ext uri="{FF2B5EF4-FFF2-40B4-BE49-F238E27FC236}">
                <a16:creationId xmlns:a16="http://schemas.microsoft.com/office/drawing/2014/main" id="{E53B4594-F22E-1C6A-7D5A-601830C400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1011" y="5491232"/>
            <a:ext cx="3142830" cy="581794"/>
          </a:xfrm>
          <a:prstGeom prst="rect">
            <a:avLst/>
          </a:prstGeom>
        </p:spPr>
      </p:pic>
      <p:pic>
        <p:nvPicPr>
          <p:cNvPr id="14" name="Image 13">
            <a:extLst>
              <a:ext uri="{FF2B5EF4-FFF2-40B4-BE49-F238E27FC236}">
                <a16:creationId xmlns:a16="http://schemas.microsoft.com/office/drawing/2014/main" id="{A3F082B1-0D87-22BD-B656-B5C8BF8795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21011" y="3039335"/>
            <a:ext cx="3661885" cy="2036282"/>
          </a:xfrm>
          <a:prstGeom prst="rect">
            <a:avLst/>
          </a:prstGeom>
        </p:spPr>
      </p:pic>
      <p:pic>
        <p:nvPicPr>
          <p:cNvPr id="16" name="Image 15">
            <a:extLst>
              <a:ext uri="{FF2B5EF4-FFF2-40B4-BE49-F238E27FC236}">
                <a16:creationId xmlns:a16="http://schemas.microsoft.com/office/drawing/2014/main" id="{3AB01436-22F0-C5C0-F63C-01856AF736F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36170" y="3036484"/>
            <a:ext cx="2595260" cy="2041985"/>
          </a:xfrm>
          <a:prstGeom prst="rect">
            <a:avLst/>
          </a:prstGeom>
        </p:spPr>
      </p:pic>
      <p:pic>
        <p:nvPicPr>
          <p:cNvPr id="18" name="Image 17">
            <a:extLst>
              <a:ext uri="{FF2B5EF4-FFF2-40B4-BE49-F238E27FC236}">
                <a16:creationId xmlns:a16="http://schemas.microsoft.com/office/drawing/2014/main" id="{9B614B32-5EF9-4AB8-1EFC-1898C678A57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84704" y="3042188"/>
            <a:ext cx="2572446" cy="2030578"/>
          </a:xfrm>
          <a:prstGeom prst="rect">
            <a:avLst/>
          </a:prstGeom>
        </p:spPr>
      </p:pic>
      <p:pic>
        <p:nvPicPr>
          <p:cNvPr id="20" name="Image 19">
            <a:extLst>
              <a:ext uri="{FF2B5EF4-FFF2-40B4-BE49-F238E27FC236}">
                <a16:creationId xmlns:a16="http://schemas.microsoft.com/office/drawing/2014/main" id="{7A145083-2BFC-B29F-5D4D-880885FD1B2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31430" y="5496935"/>
            <a:ext cx="3125720" cy="576091"/>
          </a:xfrm>
          <a:prstGeom prst="rect">
            <a:avLst/>
          </a:prstGeom>
        </p:spPr>
      </p:pic>
    </p:spTree>
    <p:extLst>
      <p:ext uri="{BB962C8B-B14F-4D97-AF65-F5344CB8AC3E}">
        <p14:creationId xmlns:p14="http://schemas.microsoft.com/office/powerpoint/2010/main" val="3099373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B08BCFC-0227-C6CE-489C-899134240F33}"/>
              </a:ext>
            </a:extLst>
          </p:cNvPr>
          <p:cNvSpPr/>
          <p:nvPr/>
        </p:nvSpPr>
        <p:spPr>
          <a:xfrm>
            <a:off x="2693502" y="2858401"/>
            <a:ext cx="6867058" cy="369479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4554E339-1CF8-30BC-8F1F-0C494FA68FD4}"/>
              </a:ext>
            </a:extLst>
          </p:cNvPr>
          <p:cNvSpPr txBox="1"/>
          <p:nvPr/>
        </p:nvSpPr>
        <p:spPr>
          <a:xfrm>
            <a:off x="913904" y="873319"/>
            <a:ext cx="8371498" cy="461665"/>
          </a:xfrm>
          <a:prstGeom prst="rect">
            <a:avLst/>
          </a:prstGeom>
          <a:noFill/>
        </p:spPr>
        <p:txBody>
          <a:bodyPr wrap="square" rtlCol="0">
            <a:spAutoFit/>
          </a:bodyPr>
          <a:lstStyle/>
          <a:p>
            <a:r>
              <a:rPr lang="fr-FR" sz="2400" b="1" dirty="0"/>
              <a:t>6. Configuration du Fichier JAR avec le Planificateur de Tâches</a:t>
            </a:r>
          </a:p>
        </p:txBody>
      </p:sp>
      <p:sp>
        <p:nvSpPr>
          <p:cNvPr id="8" name="Rectangle 2">
            <a:extLst>
              <a:ext uri="{FF2B5EF4-FFF2-40B4-BE49-F238E27FC236}">
                <a16:creationId xmlns:a16="http://schemas.microsoft.com/office/drawing/2014/main" id="{E8AB7E94-C5E9-0152-A8BD-AE25C1E97A9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5" name="ZoneTexte 4">
            <a:extLst>
              <a:ext uri="{FF2B5EF4-FFF2-40B4-BE49-F238E27FC236}">
                <a16:creationId xmlns:a16="http://schemas.microsoft.com/office/drawing/2014/main" id="{BC42ACD9-883E-4EFF-0AC6-D916B741C791}"/>
              </a:ext>
            </a:extLst>
          </p:cNvPr>
          <p:cNvSpPr txBox="1"/>
          <p:nvPr/>
        </p:nvSpPr>
        <p:spPr>
          <a:xfrm>
            <a:off x="913904" y="1573436"/>
            <a:ext cx="10404336" cy="923330"/>
          </a:xfrm>
          <a:prstGeom prst="rect">
            <a:avLst/>
          </a:prstGeom>
          <a:noFill/>
        </p:spPr>
        <p:txBody>
          <a:bodyPr wrap="square" rtlCol="0">
            <a:spAutoFit/>
          </a:bodyPr>
          <a:lstStyle/>
          <a:p>
            <a:r>
              <a:rPr lang="fr-FR" dirty="0"/>
              <a:t>Configurer le fichier JAR avec le planificateur de tâches pour automatiser l'exécution du processus ETL à des intervalles définis. Cela permet de garantir que les opérations d'extraction, de transformation et de chargement des données s'exécutent de manière régulière et automatique sans intervention manuelle.</a:t>
            </a:r>
            <a:endParaRPr lang="fr-FR" b="1" dirty="0"/>
          </a:p>
        </p:txBody>
      </p:sp>
      <p:pic>
        <p:nvPicPr>
          <p:cNvPr id="3" name="Image 2">
            <a:extLst>
              <a:ext uri="{FF2B5EF4-FFF2-40B4-BE49-F238E27FC236}">
                <a16:creationId xmlns:a16="http://schemas.microsoft.com/office/drawing/2014/main" id="{7F564FD4-3317-70F4-5BFD-66AF045208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3822" y="2873641"/>
            <a:ext cx="6764356" cy="3586731"/>
          </a:xfrm>
          <a:prstGeom prst="rect">
            <a:avLst/>
          </a:prstGeom>
        </p:spPr>
      </p:pic>
    </p:spTree>
    <p:extLst>
      <p:ext uri="{BB962C8B-B14F-4D97-AF65-F5344CB8AC3E}">
        <p14:creationId xmlns:p14="http://schemas.microsoft.com/office/powerpoint/2010/main" val="860877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4554E339-1CF8-30BC-8F1F-0C494FA68FD4}"/>
              </a:ext>
            </a:extLst>
          </p:cNvPr>
          <p:cNvSpPr txBox="1"/>
          <p:nvPr/>
        </p:nvSpPr>
        <p:spPr>
          <a:xfrm>
            <a:off x="913904" y="873319"/>
            <a:ext cx="8607168" cy="461665"/>
          </a:xfrm>
          <a:prstGeom prst="rect">
            <a:avLst/>
          </a:prstGeom>
          <a:noFill/>
        </p:spPr>
        <p:txBody>
          <a:bodyPr wrap="square" rtlCol="0">
            <a:spAutoFit/>
          </a:bodyPr>
          <a:lstStyle/>
          <a:p>
            <a:r>
              <a:rPr lang="fr-FR" sz="2400" b="1" dirty="0"/>
              <a:t>6. Configuration du Fichier JAR avec le Planificateur de Tâches</a:t>
            </a:r>
          </a:p>
        </p:txBody>
      </p:sp>
      <p:sp>
        <p:nvSpPr>
          <p:cNvPr id="8" name="Rectangle 2">
            <a:extLst>
              <a:ext uri="{FF2B5EF4-FFF2-40B4-BE49-F238E27FC236}">
                <a16:creationId xmlns:a16="http://schemas.microsoft.com/office/drawing/2014/main" id="{E8AB7E94-C5E9-0152-A8BD-AE25C1E97A9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pic>
        <p:nvPicPr>
          <p:cNvPr id="10" name="Image 9">
            <a:extLst>
              <a:ext uri="{FF2B5EF4-FFF2-40B4-BE49-F238E27FC236}">
                <a16:creationId xmlns:a16="http://schemas.microsoft.com/office/drawing/2014/main" id="{A676595C-73BB-8A77-D577-0C938AD1E4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609" y="1804683"/>
            <a:ext cx="1460176" cy="1355878"/>
          </a:xfrm>
          <a:prstGeom prst="rect">
            <a:avLst/>
          </a:prstGeom>
        </p:spPr>
      </p:pic>
      <p:pic>
        <p:nvPicPr>
          <p:cNvPr id="12" name="Image 11">
            <a:extLst>
              <a:ext uri="{FF2B5EF4-FFF2-40B4-BE49-F238E27FC236}">
                <a16:creationId xmlns:a16="http://schemas.microsoft.com/office/drawing/2014/main" id="{D220AC5B-39F2-7C0B-22F3-B8265AC688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189" y="3630260"/>
            <a:ext cx="3754724" cy="2849398"/>
          </a:xfrm>
          <a:prstGeom prst="rect">
            <a:avLst/>
          </a:prstGeom>
        </p:spPr>
      </p:pic>
      <p:pic>
        <p:nvPicPr>
          <p:cNvPr id="14" name="Image 13">
            <a:extLst>
              <a:ext uri="{FF2B5EF4-FFF2-40B4-BE49-F238E27FC236}">
                <a16:creationId xmlns:a16="http://schemas.microsoft.com/office/drawing/2014/main" id="{2E120D95-2482-8939-7AA3-FB52050C66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9830" y="3630260"/>
            <a:ext cx="3248224" cy="2849398"/>
          </a:xfrm>
          <a:prstGeom prst="rect">
            <a:avLst/>
          </a:prstGeom>
        </p:spPr>
      </p:pic>
      <p:pic>
        <p:nvPicPr>
          <p:cNvPr id="18" name="Image 17">
            <a:extLst>
              <a:ext uri="{FF2B5EF4-FFF2-40B4-BE49-F238E27FC236}">
                <a16:creationId xmlns:a16="http://schemas.microsoft.com/office/drawing/2014/main" id="{FB573F73-C9FC-B135-57BD-6E783C5F21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40931" y="3630260"/>
            <a:ext cx="2593272" cy="2849398"/>
          </a:xfrm>
          <a:prstGeom prst="rect">
            <a:avLst/>
          </a:prstGeom>
        </p:spPr>
      </p:pic>
      <p:sp>
        <p:nvSpPr>
          <p:cNvPr id="2" name="Rectangle 1">
            <a:extLst>
              <a:ext uri="{FF2B5EF4-FFF2-40B4-BE49-F238E27FC236}">
                <a16:creationId xmlns:a16="http://schemas.microsoft.com/office/drawing/2014/main" id="{8F95E213-73EB-95E4-AFBB-AF3DAD74F734}"/>
              </a:ext>
            </a:extLst>
          </p:cNvPr>
          <p:cNvSpPr/>
          <p:nvPr/>
        </p:nvSpPr>
        <p:spPr>
          <a:xfrm>
            <a:off x="1169670" y="2194560"/>
            <a:ext cx="480060" cy="952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49AB9137-4729-93AC-8F02-E0C43C2C3760}"/>
              </a:ext>
            </a:extLst>
          </p:cNvPr>
          <p:cNvSpPr txBox="1"/>
          <p:nvPr/>
        </p:nvSpPr>
        <p:spPr>
          <a:xfrm>
            <a:off x="679189" y="1414472"/>
            <a:ext cx="251956" cy="461665"/>
          </a:xfrm>
          <a:prstGeom prst="rect">
            <a:avLst/>
          </a:prstGeom>
          <a:noFill/>
        </p:spPr>
        <p:txBody>
          <a:bodyPr wrap="square" rtlCol="0">
            <a:spAutoFit/>
          </a:bodyPr>
          <a:lstStyle/>
          <a:p>
            <a:r>
              <a:rPr lang="fr-FR" sz="2400" b="1" dirty="0"/>
              <a:t>1</a:t>
            </a:r>
          </a:p>
        </p:txBody>
      </p:sp>
      <p:sp>
        <p:nvSpPr>
          <p:cNvPr id="6" name="ZoneTexte 5">
            <a:extLst>
              <a:ext uri="{FF2B5EF4-FFF2-40B4-BE49-F238E27FC236}">
                <a16:creationId xmlns:a16="http://schemas.microsoft.com/office/drawing/2014/main" id="{444598BC-6ED2-1415-A6D1-35B6991A24F0}"/>
              </a:ext>
            </a:extLst>
          </p:cNvPr>
          <p:cNvSpPr txBox="1"/>
          <p:nvPr/>
        </p:nvSpPr>
        <p:spPr>
          <a:xfrm>
            <a:off x="583443" y="3160561"/>
            <a:ext cx="251956" cy="461665"/>
          </a:xfrm>
          <a:prstGeom prst="rect">
            <a:avLst/>
          </a:prstGeom>
          <a:noFill/>
        </p:spPr>
        <p:txBody>
          <a:bodyPr wrap="square" rtlCol="0">
            <a:spAutoFit/>
          </a:bodyPr>
          <a:lstStyle/>
          <a:p>
            <a:r>
              <a:rPr lang="fr-FR" sz="2400" b="1" dirty="0"/>
              <a:t>2</a:t>
            </a:r>
          </a:p>
        </p:txBody>
      </p:sp>
      <p:sp>
        <p:nvSpPr>
          <p:cNvPr id="13" name="ZoneTexte 12">
            <a:extLst>
              <a:ext uri="{FF2B5EF4-FFF2-40B4-BE49-F238E27FC236}">
                <a16:creationId xmlns:a16="http://schemas.microsoft.com/office/drawing/2014/main" id="{CDF5485C-B2F7-4C30-921A-B95D06F41AAD}"/>
              </a:ext>
            </a:extLst>
          </p:cNvPr>
          <p:cNvSpPr txBox="1"/>
          <p:nvPr/>
        </p:nvSpPr>
        <p:spPr>
          <a:xfrm>
            <a:off x="5149830" y="3068012"/>
            <a:ext cx="251956" cy="461665"/>
          </a:xfrm>
          <a:prstGeom prst="rect">
            <a:avLst/>
          </a:prstGeom>
          <a:noFill/>
        </p:spPr>
        <p:txBody>
          <a:bodyPr wrap="square" rtlCol="0">
            <a:spAutoFit/>
          </a:bodyPr>
          <a:lstStyle/>
          <a:p>
            <a:r>
              <a:rPr lang="fr-FR" sz="2400" b="1" dirty="0"/>
              <a:t>3</a:t>
            </a:r>
          </a:p>
        </p:txBody>
      </p:sp>
      <p:sp>
        <p:nvSpPr>
          <p:cNvPr id="15" name="ZoneTexte 14">
            <a:extLst>
              <a:ext uri="{FF2B5EF4-FFF2-40B4-BE49-F238E27FC236}">
                <a16:creationId xmlns:a16="http://schemas.microsoft.com/office/drawing/2014/main" id="{97086251-5BB7-8C78-94EB-7B4416D67DA7}"/>
              </a:ext>
            </a:extLst>
          </p:cNvPr>
          <p:cNvSpPr txBox="1"/>
          <p:nvPr/>
        </p:nvSpPr>
        <p:spPr>
          <a:xfrm>
            <a:off x="9040931" y="3068505"/>
            <a:ext cx="251956" cy="461665"/>
          </a:xfrm>
          <a:prstGeom prst="rect">
            <a:avLst/>
          </a:prstGeom>
          <a:noFill/>
        </p:spPr>
        <p:txBody>
          <a:bodyPr wrap="square" rtlCol="0">
            <a:spAutoFit/>
          </a:bodyPr>
          <a:lstStyle/>
          <a:p>
            <a:r>
              <a:rPr lang="fr-FR" sz="2400" b="1" dirty="0"/>
              <a:t>4</a:t>
            </a:r>
          </a:p>
        </p:txBody>
      </p:sp>
    </p:spTree>
    <p:extLst>
      <p:ext uri="{BB962C8B-B14F-4D97-AF65-F5344CB8AC3E}">
        <p14:creationId xmlns:p14="http://schemas.microsoft.com/office/powerpoint/2010/main" val="2812841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4554E339-1CF8-30BC-8F1F-0C494FA68FD4}"/>
              </a:ext>
            </a:extLst>
          </p:cNvPr>
          <p:cNvSpPr txBox="1"/>
          <p:nvPr/>
        </p:nvSpPr>
        <p:spPr>
          <a:xfrm>
            <a:off x="913903" y="873319"/>
            <a:ext cx="9304753"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400" b="1" i="0" u="none" strike="noStrike" cap="none" normalizeH="0" baseline="0" dirty="0">
                <a:ln>
                  <a:noFill/>
                </a:ln>
                <a:solidFill>
                  <a:schemeClr val="tx1"/>
                </a:solidFill>
                <a:effectLst/>
                <a:latin typeface="Arial" panose="020B0604020202020204" pitchFamily="34" charset="0"/>
              </a:rPr>
              <a:t>7. Tableau de Bord Interactif des Ventes avec Dash et </a:t>
            </a:r>
            <a:r>
              <a:rPr kumimoji="0" lang="fr-FR" altLang="fr-FR" sz="2400" b="1" i="0" u="none" strike="noStrike" cap="none" normalizeH="0" baseline="0" dirty="0" err="1">
                <a:ln>
                  <a:noFill/>
                </a:ln>
                <a:solidFill>
                  <a:schemeClr val="tx1"/>
                </a:solidFill>
                <a:effectLst/>
                <a:latin typeface="Arial" panose="020B0604020202020204" pitchFamily="34" charset="0"/>
              </a:rPr>
              <a:t>Plotly</a:t>
            </a:r>
            <a:endParaRPr kumimoji="0" lang="fr-FR" altLang="fr-FR" sz="2400" b="1"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E8AB7E94-C5E9-0152-A8BD-AE25C1E97A9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5" name="ZoneTexte 4">
            <a:extLst>
              <a:ext uri="{FF2B5EF4-FFF2-40B4-BE49-F238E27FC236}">
                <a16:creationId xmlns:a16="http://schemas.microsoft.com/office/drawing/2014/main" id="{BC42ACD9-883E-4EFF-0AC6-D916B741C791}"/>
              </a:ext>
            </a:extLst>
          </p:cNvPr>
          <p:cNvSpPr txBox="1"/>
          <p:nvPr/>
        </p:nvSpPr>
        <p:spPr>
          <a:xfrm>
            <a:off x="1202993" y="2014363"/>
            <a:ext cx="4893007" cy="3970318"/>
          </a:xfrm>
          <a:prstGeom prst="rect">
            <a:avLst/>
          </a:prstGeom>
          <a:noFill/>
        </p:spPr>
        <p:txBody>
          <a:bodyPr wrap="square" rtlCol="0">
            <a:spAutoFit/>
          </a:bodyPr>
          <a:lstStyle/>
          <a:p>
            <a:pPr algn="just"/>
            <a:r>
              <a:rPr lang="fr-FR" dirty="0"/>
              <a:t>Ce code crée un tableau de bord interactif avec </a:t>
            </a:r>
            <a:r>
              <a:rPr lang="fr-FR" b="1" dirty="0"/>
              <a:t>Dash</a:t>
            </a:r>
            <a:r>
              <a:rPr lang="fr-FR" dirty="0"/>
              <a:t> et </a:t>
            </a:r>
            <a:r>
              <a:rPr lang="fr-FR" b="1" dirty="0" err="1"/>
              <a:t>Plotly</a:t>
            </a:r>
            <a:r>
              <a:rPr lang="fr-FR" dirty="0"/>
              <a:t> pour visualiser les données de vente extraites d'une base de données </a:t>
            </a:r>
            <a:r>
              <a:rPr lang="fr-FR" b="1" dirty="0"/>
              <a:t>MySQL</a:t>
            </a:r>
            <a:r>
              <a:rPr lang="fr-FR" dirty="0"/>
              <a:t>. Il récupère des informations sur les ventes totales, les ventes par pays, les produits les plus vendus et les délais de livraison des fournisseurs via des requêtes SQL. L'interface utilisateur présente des graphiques dynamiques et des indicateurs clés de performance (KPIs). Des </a:t>
            </a:r>
            <a:r>
              <a:rPr lang="fr-FR" b="1" dirty="0"/>
              <a:t>callbacks Dash</a:t>
            </a:r>
            <a:r>
              <a:rPr lang="fr-FR" dirty="0"/>
              <a:t> permettent de mettre à jour les données en temps réel. L'application est conçue avec des couleurs douces et une disposition simple pour une meilleure lisibilité. Elle offre une analyse complète des performances de vente et des fournisseurs.</a:t>
            </a:r>
            <a:endParaRPr lang="fr-FR" b="1" dirty="0"/>
          </a:p>
        </p:txBody>
      </p:sp>
      <p:pic>
        <p:nvPicPr>
          <p:cNvPr id="10" name="Image 9">
            <a:extLst>
              <a:ext uri="{FF2B5EF4-FFF2-40B4-BE49-F238E27FC236}">
                <a16:creationId xmlns:a16="http://schemas.microsoft.com/office/drawing/2014/main" id="{E46706F4-A5BA-2AC2-D92F-A0775801D2EE}"/>
              </a:ext>
            </a:extLst>
          </p:cNvPr>
          <p:cNvPicPr>
            <a:picLocks noChangeAspect="1"/>
          </p:cNvPicPr>
          <p:nvPr/>
        </p:nvPicPr>
        <p:blipFill>
          <a:blip r:embed="rId2"/>
          <a:stretch>
            <a:fillRect/>
          </a:stretch>
        </p:blipFill>
        <p:spPr>
          <a:xfrm>
            <a:off x="7073630" y="2111212"/>
            <a:ext cx="3568368" cy="3873469"/>
          </a:xfrm>
          <a:prstGeom prst="rect">
            <a:avLst/>
          </a:prstGeom>
        </p:spPr>
      </p:pic>
    </p:spTree>
    <p:extLst>
      <p:ext uri="{BB962C8B-B14F-4D97-AF65-F5344CB8AC3E}">
        <p14:creationId xmlns:p14="http://schemas.microsoft.com/office/powerpoint/2010/main" val="3303840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4554E339-1CF8-30BC-8F1F-0C494FA68FD4}"/>
              </a:ext>
            </a:extLst>
          </p:cNvPr>
          <p:cNvSpPr txBox="1"/>
          <p:nvPr/>
        </p:nvSpPr>
        <p:spPr>
          <a:xfrm>
            <a:off x="913903" y="873319"/>
            <a:ext cx="9568703"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400" b="1" i="0" u="none" strike="noStrike" cap="none" normalizeH="0" baseline="0" dirty="0">
                <a:ln>
                  <a:noFill/>
                </a:ln>
                <a:solidFill>
                  <a:schemeClr val="tx1"/>
                </a:solidFill>
                <a:effectLst/>
                <a:latin typeface="Arial" panose="020B0604020202020204" pitchFamily="34" charset="0"/>
              </a:rPr>
              <a:t>7. Tableau de Bord Interactif des Ventes avec Dash et </a:t>
            </a:r>
            <a:r>
              <a:rPr kumimoji="0" lang="fr-FR" altLang="fr-FR" sz="2400" b="1" i="0" u="none" strike="noStrike" cap="none" normalizeH="0" baseline="0" dirty="0" err="1">
                <a:ln>
                  <a:noFill/>
                </a:ln>
                <a:solidFill>
                  <a:schemeClr val="tx1"/>
                </a:solidFill>
                <a:effectLst/>
                <a:latin typeface="Arial" panose="020B0604020202020204" pitchFamily="34" charset="0"/>
              </a:rPr>
              <a:t>Plotly</a:t>
            </a:r>
            <a:endParaRPr kumimoji="0" lang="fr-FR" altLang="fr-FR" sz="2400" b="1"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E8AB7E94-C5E9-0152-A8BD-AE25C1E97A9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pic>
        <p:nvPicPr>
          <p:cNvPr id="14" name="Image 13">
            <a:extLst>
              <a:ext uri="{FF2B5EF4-FFF2-40B4-BE49-F238E27FC236}">
                <a16:creationId xmlns:a16="http://schemas.microsoft.com/office/drawing/2014/main" id="{4807E3D0-2BC1-1F49-1946-907ADA187E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4088" y="1478681"/>
            <a:ext cx="5480685" cy="3429000"/>
          </a:xfrm>
          <a:prstGeom prst="rect">
            <a:avLst/>
          </a:prstGeom>
        </p:spPr>
      </p:pic>
      <p:pic>
        <p:nvPicPr>
          <p:cNvPr id="12" name="Image 11">
            <a:extLst>
              <a:ext uri="{FF2B5EF4-FFF2-40B4-BE49-F238E27FC236}">
                <a16:creationId xmlns:a16="http://schemas.microsoft.com/office/drawing/2014/main" id="{EDC882AD-5DA4-D567-9994-A19BA725C5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4087" y="4907682"/>
            <a:ext cx="5480686" cy="1957388"/>
          </a:xfrm>
          <a:prstGeom prst="rect">
            <a:avLst/>
          </a:prstGeom>
        </p:spPr>
      </p:pic>
    </p:spTree>
    <p:extLst>
      <p:ext uri="{BB962C8B-B14F-4D97-AF65-F5344CB8AC3E}">
        <p14:creationId xmlns:p14="http://schemas.microsoft.com/office/powerpoint/2010/main" val="94841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4554E339-1CF8-30BC-8F1F-0C494FA68FD4}"/>
              </a:ext>
            </a:extLst>
          </p:cNvPr>
          <p:cNvSpPr txBox="1"/>
          <p:nvPr/>
        </p:nvSpPr>
        <p:spPr>
          <a:xfrm>
            <a:off x="913903" y="873319"/>
            <a:ext cx="8729717"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400" b="1" i="0" u="none" strike="noStrike" cap="none" normalizeH="0" baseline="0" dirty="0" err="1">
                <a:ln>
                  <a:noFill/>
                </a:ln>
                <a:solidFill>
                  <a:schemeClr val="tx1"/>
                </a:solidFill>
                <a:effectLst/>
                <a:latin typeface="Arial" panose="020B0604020202020204" pitchFamily="34" charset="0"/>
              </a:rPr>
              <a:t>Analye</a:t>
            </a:r>
            <a:r>
              <a:rPr kumimoji="0" lang="fr-FR" altLang="fr-FR" sz="2400" b="1" i="0" u="none" strike="noStrike" cap="none" normalizeH="0" baseline="0" dirty="0">
                <a:ln>
                  <a:noFill/>
                </a:ln>
                <a:solidFill>
                  <a:schemeClr val="tx1"/>
                </a:solidFill>
                <a:effectLst/>
                <a:latin typeface="Arial" panose="020B0604020202020204" pitchFamily="34" charset="0"/>
              </a:rPr>
              <a:t> des produits</a:t>
            </a:r>
          </a:p>
        </p:txBody>
      </p:sp>
      <p:sp>
        <p:nvSpPr>
          <p:cNvPr id="8" name="Rectangle 2">
            <a:extLst>
              <a:ext uri="{FF2B5EF4-FFF2-40B4-BE49-F238E27FC236}">
                <a16:creationId xmlns:a16="http://schemas.microsoft.com/office/drawing/2014/main" id="{E8AB7E94-C5E9-0152-A8BD-AE25C1E97A9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pic>
        <p:nvPicPr>
          <p:cNvPr id="3" name="Image 2">
            <a:extLst>
              <a:ext uri="{FF2B5EF4-FFF2-40B4-BE49-F238E27FC236}">
                <a16:creationId xmlns:a16="http://schemas.microsoft.com/office/drawing/2014/main" id="{6F322752-163D-D35F-920C-4CFF2B0234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904" y="1425759"/>
            <a:ext cx="7314192" cy="5262557"/>
          </a:xfrm>
          <a:prstGeom prst="rect">
            <a:avLst/>
          </a:prstGeom>
        </p:spPr>
      </p:pic>
    </p:spTree>
    <p:extLst>
      <p:ext uri="{BB962C8B-B14F-4D97-AF65-F5344CB8AC3E}">
        <p14:creationId xmlns:p14="http://schemas.microsoft.com/office/powerpoint/2010/main" val="3765037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4554E339-1CF8-30BC-8F1F-0C494FA68FD4}"/>
              </a:ext>
            </a:extLst>
          </p:cNvPr>
          <p:cNvSpPr txBox="1"/>
          <p:nvPr/>
        </p:nvSpPr>
        <p:spPr>
          <a:xfrm>
            <a:off x="913903" y="873319"/>
            <a:ext cx="8729717"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400" b="1" i="0" u="none" strike="noStrike" cap="none" normalizeH="0" baseline="0" dirty="0" err="1">
                <a:ln>
                  <a:noFill/>
                </a:ln>
                <a:solidFill>
                  <a:schemeClr val="tx1"/>
                </a:solidFill>
                <a:effectLst/>
                <a:latin typeface="Arial" panose="020B0604020202020204" pitchFamily="34" charset="0"/>
              </a:rPr>
              <a:t>Analye</a:t>
            </a:r>
            <a:r>
              <a:rPr kumimoji="0" lang="fr-FR" altLang="fr-FR" sz="2400" b="1" i="0" u="none" strike="noStrike" cap="none" normalizeH="0" baseline="0" dirty="0">
                <a:ln>
                  <a:noFill/>
                </a:ln>
                <a:solidFill>
                  <a:schemeClr val="tx1"/>
                </a:solidFill>
                <a:effectLst/>
                <a:latin typeface="Arial" panose="020B0604020202020204" pitchFamily="34" charset="0"/>
              </a:rPr>
              <a:t> des fournisseurs</a:t>
            </a:r>
          </a:p>
        </p:txBody>
      </p:sp>
      <p:sp>
        <p:nvSpPr>
          <p:cNvPr id="8" name="Rectangle 2">
            <a:extLst>
              <a:ext uri="{FF2B5EF4-FFF2-40B4-BE49-F238E27FC236}">
                <a16:creationId xmlns:a16="http://schemas.microsoft.com/office/drawing/2014/main" id="{E8AB7E94-C5E9-0152-A8BD-AE25C1E97A9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pic>
        <p:nvPicPr>
          <p:cNvPr id="4" name="Image 3">
            <a:extLst>
              <a:ext uri="{FF2B5EF4-FFF2-40B4-BE49-F238E27FC236}">
                <a16:creationId xmlns:a16="http://schemas.microsoft.com/office/drawing/2014/main" id="{73019FF2-E173-947C-5B64-DD85AA5CF8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313" y="2208302"/>
            <a:ext cx="10963373" cy="3892999"/>
          </a:xfrm>
          <a:prstGeom prst="rect">
            <a:avLst/>
          </a:prstGeom>
        </p:spPr>
      </p:pic>
    </p:spTree>
    <p:extLst>
      <p:ext uri="{BB962C8B-B14F-4D97-AF65-F5344CB8AC3E}">
        <p14:creationId xmlns:p14="http://schemas.microsoft.com/office/powerpoint/2010/main" val="4016799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4554E339-1CF8-30BC-8F1F-0C494FA68FD4}"/>
              </a:ext>
            </a:extLst>
          </p:cNvPr>
          <p:cNvSpPr txBox="1"/>
          <p:nvPr/>
        </p:nvSpPr>
        <p:spPr>
          <a:xfrm>
            <a:off x="4988102" y="2875002"/>
            <a:ext cx="2215796" cy="110799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6600" b="1" dirty="0">
                <a:latin typeface="Canva Sans Bold"/>
              </a:rPr>
              <a:t>Merci</a:t>
            </a:r>
            <a:endParaRPr kumimoji="0" lang="fr-FR" altLang="fr-FR" sz="6600" b="1" i="0" u="none" strike="noStrike" cap="none" normalizeH="0" baseline="0" dirty="0">
              <a:ln>
                <a:noFill/>
              </a:ln>
              <a:effectLst/>
              <a:latin typeface="Arial" panose="020B0604020202020204" pitchFamily="34" charset="0"/>
            </a:endParaRPr>
          </a:p>
        </p:txBody>
      </p:sp>
      <p:sp>
        <p:nvSpPr>
          <p:cNvPr id="8" name="Rectangle 2">
            <a:extLst>
              <a:ext uri="{FF2B5EF4-FFF2-40B4-BE49-F238E27FC236}">
                <a16:creationId xmlns:a16="http://schemas.microsoft.com/office/drawing/2014/main" id="{E8AB7E94-C5E9-0152-A8BD-AE25C1E97A9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 name="ZoneTexte 1">
            <a:extLst>
              <a:ext uri="{FF2B5EF4-FFF2-40B4-BE49-F238E27FC236}">
                <a16:creationId xmlns:a16="http://schemas.microsoft.com/office/drawing/2014/main" id="{40382ECA-858F-EB49-B47B-68CFB0D73381}"/>
              </a:ext>
            </a:extLst>
          </p:cNvPr>
          <p:cNvSpPr txBox="1"/>
          <p:nvPr/>
        </p:nvSpPr>
        <p:spPr>
          <a:xfrm>
            <a:off x="477624" y="6126686"/>
            <a:ext cx="2773680" cy="461665"/>
          </a:xfrm>
          <a:prstGeom prst="rect">
            <a:avLst/>
          </a:prstGeom>
          <a:noFill/>
        </p:spPr>
        <p:txBody>
          <a:bodyPr wrap="square" rtlCol="0">
            <a:spAutoFit/>
          </a:bodyPr>
          <a:lstStyle/>
          <a:p>
            <a:r>
              <a:rPr lang="en-US" sz="2400" b="1" dirty="0">
                <a:latin typeface="Arial" panose="020B0604020202020204" pitchFamily="34" charset="0"/>
              </a:rPr>
              <a:t>B</a:t>
            </a:r>
            <a:r>
              <a:rPr lang="fr-FR" sz="2400" b="1" dirty="0">
                <a:latin typeface="Arial" panose="020B0604020202020204" pitchFamily="34" charset="0"/>
              </a:rPr>
              <a:t>y : </a:t>
            </a:r>
            <a:r>
              <a:rPr lang="fr-FR" sz="2400" b="1" dirty="0" err="1">
                <a:latin typeface="Arial" panose="020B0604020202020204" pitchFamily="34" charset="0"/>
              </a:rPr>
              <a:t>Hatim</a:t>
            </a:r>
            <a:r>
              <a:rPr lang="fr-FR" sz="2400" b="1" dirty="0">
                <a:latin typeface="Arial" panose="020B0604020202020204" pitchFamily="34" charset="0"/>
              </a:rPr>
              <a:t> </a:t>
            </a:r>
            <a:r>
              <a:rPr lang="fr-FR" sz="2400" b="1" dirty="0" err="1">
                <a:latin typeface="Arial" panose="020B0604020202020204" pitchFamily="34" charset="0"/>
              </a:rPr>
              <a:t>Fadoul</a:t>
            </a:r>
            <a:endParaRPr lang="fr-FR" sz="2400" dirty="0"/>
          </a:p>
        </p:txBody>
      </p:sp>
    </p:spTree>
    <p:extLst>
      <p:ext uri="{BB962C8B-B14F-4D97-AF65-F5344CB8AC3E}">
        <p14:creationId xmlns:p14="http://schemas.microsoft.com/office/powerpoint/2010/main" val="406243962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437</TotalTime>
  <Words>646</Words>
  <Application>Microsoft Office PowerPoint</Application>
  <PresentationFormat>Grand écran</PresentationFormat>
  <Paragraphs>45</Paragraphs>
  <Slides>14</Slides>
  <Notes>1</Notes>
  <HiddenSlides>0</HiddenSlides>
  <MMClips>0</MMClips>
  <ScaleCrop>false</ScaleCrop>
  <HeadingPairs>
    <vt:vector size="8" baseType="variant">
      <vt:variant>
        <vt:lpstr>Polices utilisées</vt:lpstr>
      </vt:variant>
      <vt:variant>
        <vt:i4>4</vt:i4>
      </vt:variant>
      <vt:variant>
        <vt:lpstr>Thème</vt:lpstr>
      </vt:variant>
      <vt:variant>
        <vt:i4>1</vt:i4>
      </vt:variant>
      <vt:variant>
        <vt:lpstr>Serveurs OLE incorporés</vt:lpstr>
      </vt:variant>
      <vt:variant>
        <vt:i4>1</vt:i4>
      </vt:variant>
      <vt:variant>
        <vt:lpstr>Titres des diapositives</vt:lpstr>
      </vt:variant>
      <vt:variant>
        <vt:i4>14</vt:i4>
      </vt:variant>
    </vt:vector>
  </HeadingPairs>
  <TitlesOfParts>
    <vt:vector size="20" baseType="lpstr">
      <vt:lpstr>Arial</vt:lpstr>
      <vt:lpstr>Calibri</vt:lpstr>
      <vt:lpstr>Calibri Light</vt:lpstr>
      <vt:lpstr>Canva Sans Bold</vt:lpstr>
      <vt:lpstr>Thème Office</vt:lpstr>
      <vt:lpstr>Package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FADOULE HATIM</dc:creator>
  <cp:lastModifiedBy>FADOULE HATIM</cp:lastModifiedBy>
  <cp:revision>3</cp:revision>
  <dcterms:created xsi:type="dcterms:W3CDTF">2025-02-04T16:47:26Z</dcterms:created>
  <dcterms:modified xsi:type="dcterms:W3CDTF">2025-02-24T01:59:15Z</dcterms:modified>
</cp:coreProperties>
</file>